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d543ae637ff42b7" /><Relationship Type="http://schemas.openxmlformats.org/officeDocument/2006/relationships/extended-properties" Target="/docProps/app.xml" Id="R9b42931320274c0e" /><Relationship Type="http://schemas.openxmlformats.org/officeDocument/2006/relationships/officeDocument" Target="/ppt/presentation.xml" Id="R588ff758a0bf44b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37280c3b5cd4a60"/>
  </p:sldMasterIdLst>
  <p:notesMasterIdLst>
    <p:notesMasterId xmlns:r="http://schemas.openxmlformats.org/officeDocument/2006/relationships" r:id="R99325263fbe341b0"/>
  </p:notesMasterIdLst>
  <p:sldIdLst>
    <p:sldId xmlns:r="http://schemas.openxmlformats.org/officeDocument/2006/relationships" id="256" r:id="R738b9d631faf49d4"/>
    <p:sldId xmlns:r="http://schemas.openxmlformats.org/officeDocument/2006/relationships" id="257" r:id="R6532a3d8a00847d6"/>
    <p:sldId xmlns:r="http://schemas.openxmlformats.org/officeDocument/2006/relationships" id="258" r:id="Re8d7d4ad1c4a48d5"/>
    <p:sldId xmlns:r="http://schemas.openxmlformats.org/officeDocument/2006/relationships" id="259" r:id="Ra90c56c4b2c940f9"/>
    <p:sldId xmlns:r="http://schemas.openxmlformats.org/officeDocument/2006/relationships" id="260" r:id="R4ea356e576bb4abc"/>
    <p:sldId xmlns:r="http://schemas.openxmlformats.org/officeDocument/2006/relationships" id="261" r:id="R2650ae6b93c545f1"/>
    <p:sldId xmlns:r="http://schemas.openxmlformats.org/officeDocument/2006/relationships" id="262" r:id="R745522b112d840b9"/>
    <p:sldId xmlns:r="http://schemas.openxmlformats.org/officeDocument/2006/relationships" id="263" r:id="R34bf5b91d14a40f0"/>
    <p:sldId xmlns:r="http://schemas.openxmlformats.org/officeDocument/2006/relationships" id="264" r:id="Ra4e03142ff3745b1"/>
    <p:sldId xmlns:r="http://schemas.openxmlformats.org/officeDocument/2006/relationships" id="265" r:id="R6506680e0f324c22"/>
    <p:sldId xmlns:r="http://schemas.openxmlformats.org/officeDocument/2006/relationships" id="266" r:id="R536b7328967f4e20"/>
    <p:sldId xmlns:r="http://schemas.openxmlformats.org/officeDocument/2006/relationships" id="267" r:id="Rdb6ea84bd6ef4d2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eb49572cc4d4f72" /><Relationship Type="http://schemas.openxmlformats.org/officeDocument/2006/relationships/slideMaster" Target="/ppt/slideMasters/slideMaster1.xml" Id="R237280c3b5cd4a60" /><Relationship Type="http://schemas.openxmlformats.org/officeDocument/2006/relationships/notesMaster" Target="/ppt/notesMasters/notesMaster1.xml" Id="R99325263fbe341b0" /><Relationship Type="http://schemas.openxmlformats.org/officeDocument/2006/relationships/presProps" Target="/ppt/presProps.xml" Id="R4ac0bca2f61f46fd" /><Relationship Type="http://schemas.openxmlformats.org/officeDocument/2006/relationships/tableStyles" Target="/ppt/tableStyles.xml" Id="R7fbe9e6ab8204eaa" /><Relationship Type="http://schemas.openxmlformats.org/officeDocument/2006/relationships/slide" Target="/ppt/slides/slide1.xml" Id="R738b9d631faf49d4" /><Relationship Type="http://schemas.openxmlformats.org/officeDocument/2006/relationships/slide" Target="/ppt/slides/slide2.xml" Id="R6532a3d8a00847d6" /><Relationship Type="http://schemas.openxmlformats.org/officeDocument/2006/relationships/slide" Target="/ppt/slides/slide3.xml" Id="Re8d7d4ad1c4a48d5" /><Relationship Type="http://schemas.openxmlformats.org/officeDocument/2006/relationships/slide" Target="/ppt/slides/slide4.xml" Id="Ra90c56c4b2c940f9" /><Relationship Type="http://schemas.openxmlformats.org/officeDocument/2006/relationships/slide" Target="/ppt/slides/slide5.xml" Id="R4ea356e576bb4abc" /><Relationship Type="http://schemas.openxmlformats.org/officeDocument/2006/relationships/slide" Target="/ppt/slides/slide6.xml" Id="R2650ae6b93c545f1" /><Relationship Type="http://schemas.openxmlformats.org/officeDocument/2006/relationships/slide" Target="/ppt/slides/slide7.xml" Id="R745522b112d840b9" /><Relationship Type="http://schemas.openxmlformats.org/officeDocument/2006/relationships/slide" Target="/ppt/slides/slide8.xml" Id="R34bf5b91d14a40f0" /><Relationship Type="http://schemas.openxmlformats.org/officeDocument/2006/relationships/slide" Target="/ppt/slides/slide9.xml" Id="Ra4e03142ff3745b1" /><Relationship Type="http://schemas.openxmlformats.org/officeDocument/2006/relationships/slide" Target="/ppt/slides/slide10.xml" Id="R6506680e0f324c22" /><Relationship Type="http://schemas.openxmlformats.org/officeDocument/2006/relationships/slide" Target="/ppt/slides/slide11.xml" Id="R536b7328967f4e20" /><Relationship Type="http://schemas.openxmlformats.org/officeDocument/2006/relationships/slide" Target="/ppt/slides/slide12.xml" Id="Rdb6ea84bd6ef4d2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d04a34e80b1437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4aca9b3ef374f7d" /><Relationship Type="http://schemas.openxmlformats.org/officeDocument/2006/relationships/notesMaster" Target="/ppt/notesMasters/notesMaster1.xml" Id="R01bf55f6fee1425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90e933bfae644ec" /><Relationship Type="http://schemas.openxmlformats.org/officeDocument/2006/relationships/notesMaster" Target="/ppt/notesMasters/notesMaster1.xml" Id="R49ee9601eeca453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a516f4c078a4a3d" /><Relationship Type="http://schemas.openxmlformats.org/officeDocument/2006/relationships/notesMaster" Target="/ppt/notesMasters/notesMaster1.xml" Id="R0a17708031a8453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2fa93bbb839428a" /><Relationship Type="http://schemas.openxmlformats.org/officeDocument/2006/relationships/notesMaster" Target="/ppt/notesMasters/notesMaster1.xml" Id="R326fa4bf2bf44e0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d34052c4f4344a5" /><Relationship Type="http://schemas.openxmlformats.org/officeDocument/2006/relationships/notesMaster" Target="/ppt/notesMasters/notesMaster1.xml" Id="R9c064c1be39e442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e6333b9d23f46bb" /><Relationship Type="http://schemas.openxmlformats.org/officeDocument/2006/relationships/notesMaster" Target="/ppt/notesMasters/notesMaster1.xml" Id="Radd23aae61ec436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0f04476325b4b40" /><Relationship Type="http://schemas.openxmlformats.org/officeDocument/2006/relationships/notesMaster" Target="/ppt/notesMasters/notesMaster1.xml" Id="R15b49e4d54c84ee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a6ac10e4baf4048" /><Relationship Type="http://schemas.openxmlformats.org/officeDocument/2006/relationships/notesMaster" Target="/ppt/notesMasters/notesMaster1.xml" Id="R9cd5dcc7b27e449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3945b62f5ed4574" /><Relationship Type="http://schemas.openxmlformats.org/officeDocument/2006/relationships/notesMaster" Target="/ppt/notesMasters/notesMaster1.xml" Id="R53ffb15764cc4cb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e4f7f92c8ec4e56" /><Relationship Type="http://schemas.openxmlformats.org/officeDocument/2006/relationships/notesMaster" Target="/ppt/notesMasters/notesMaster1.xml" Id="Ra34b4ab019704da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d606b24f90ca423b" /><Relationship Type="http://schemas.openxmlformats.org/officeDocument/2006/relationships/notesMaster" Target="/ppt/notesMasters/notesMaster1.xml" Id="Ra830aa9ca2134e09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6da65e06b004504" /><Relationship Type="http://schemas.openxmlformats.org/officeDocument/2006/relationships/notesMaster" Target="/ppt/notesMasters/notesMaster1.xml" Id="Rf5c23162239b411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证据字段：monthly summary / source mapping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results/v32/jobs/310912a4ad924de6-summary.json SHA256 7274d16c5508057ac956a9056930a3b4b4e9fab4f664c1c707be827a50ca8ac1</a:t>
            </a:r>
          </a:p>
          <a:p xmlns:a="http://schemas.openxmlformats.org/drawingml/2006/main">
            <a:r>
              <a:t>results/v32/improvements/4de87f7924b021d8/result.json SHA256 3d7e1bfbabeb55fd41f0c0696eaaca947950262e877b83d133505920d06671f3</a:t>
            </a:r>
          </a:p>
          <a:p xmlns:a="http://schemas.openxmlformats.org/drawingml/2006/main">
            <a:r>
              <a:t>results/v32/opportunity/7a6aa4e97c225bc8/result.json SHA256 1af53221b4745a51325ccf8e66133f1253ae2db7cd50b9ea681c18658d39c008</a:t>
            </a:r>
          </a:p>
          <a:p xmlns:a="http://schemas.openxmlformats.org/drawingml/2006/main">
            <a:r>
              <a:t>validation/persistent-shift-2026-06/comparison.json SHA256 d0355b0a660d75381dff7411a389b5181e8db3cfeabf30041909fd2981934048</a:t>
            </a:r>
          </a:p>
          <a:p xmlns:a="http://schemas.openxmlformats.org/drawingml/2006/main">
            <a:r>
              <a:t>validation/persistent-shift-2026-06/acceptance.json SHA256 15705a3d9d58348b60a50a314c33c90e3e76f6416449d81d72aa157e10b8535a</a:t>
            </a:r>
          </a:p>
          <a:p xmlns:a="http://schemas.openxmlformats.org/drawingml/2006/main">
            <a:r>
              <a:t>SimBench https://simbench.de/en/download/datasets/ ODbL1.0 / DbCL1.0。德国原始2016曲线按连续时段映射到中国时区2026仿真场景，非中国园区实测。公开回放 https://jinyh.github.io/energy-campus/ 。月度示范与72小时RSI研究分别记账。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证据字段：June scene screenshot</a:t>
            </a:r>
          </a:p>
          <a:p xmlns:a="http://schemas.openxmlformats.org/drawingml/2006/main">
            <a:r>
              <a:t>示意建筑布局；当前视觉与参考站仍有差距，保留视觉验收记录。</a:t>
            </a:r>
          </a:p>
          <a:p xmlns:a="http://schemas.openxmlformats.org/drawingml/2006/main">
            <a:r>
              <a:t>results/v32/jobs/310912a4ad924de6-summary.json SHA256 7274d16c5508057ac956a9056930a3b4b4e9fab4f664c1c707be827a50ca8ac1</a:t>
            </a:r>
          </a:p>
          <a:p xmlns:a="http://schemas.openxmlformats.org/drawingml/2006/main">
            <a:r>
              <a:t>results/v32/improvements/4de87f7924b021d8/result.json SHA256 3d7e1bfbabeb55fd41f0c0696eaaca947950262e877b83d133505920d06671f3</a:t>
            </a:r>
          </a:p>
          <a:p xmlns:a="http://schemas.openxmlformats.org/drawingml/2006/main">
            <a:r>
              <a:t>results/v32/opportunity/7a6aa4e97c225bc8/result.json SHA256 1af53221b4745a51325ccf8e66133f1253ae2db7cd50b9ea681c18658d39c008</a:t>
            </a:r>
          </a:p>
          <a:p xmlns:a="http://schemas.openxmlformats.org/drawingml/2006/main">
            <a:r>
              <a:t>validation/persistent-shift-2026-06/comparison.json SHA256 d0355b0a660d75381dff7411a389b5181e8db3cfeabf30041909fd2981934048</a:t>
            </a:r>
          </a:p>
          <a:p xmlns:a="http://schemas.openxmlformats.org/drawingml/2006/main">
            <a:r>
              <a:t>validation/persistent-shift-2026-06/acceptance.json SHA256 15705a3d9d58348b60a50a314c33c90e3e76f6416449d81d72aa157e10b8535a</a:t>
            </a:r>
          </a:p>
          <a:p xmlns:a="http://schemas.openxmlformats.org/drawingml/2006/main">
            <a:r>
              <a:t>SimBench https://simbench.de/en/download/datasets/ ODbL1.0 / DbCL1.0。德国原始2016曲线按连续时段映射到中国时区2026仿真场景，非中国园区实测。公开回放 https://jinyh.github.io/energy-campus/ 。月度示范与72小时RSI研究分别记账。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证据字段：task.period / storage / ev / provenance / query_cost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results/v32/jobs/310912a4ad924de6-summary.json SHA256 7274d16c5508057ac956a9056930a3b4b4e9fab4f664c1c707be827a50ca8ac1</a:t>
            </a:r>
          </a:p>
          <a:p xmlns:a="http://schemas.openxmlformats.org/drawingml/2006/main">
            <a:r>
              <a:t>results/v32/improvements/4de87f7924b021d8/result.json SHA256 3d7e1bfbabeb55fd41f0c0696eaaca947950262e877b83d133505920d06671f3</a:t>
            </a:r>
          </a:p>
          <a:p xmlns:a="http://schemas.openxmlformats.org/drawingml/2006/main">
            <a:r>
              <a:t>results/v32/opportunity/7a6aa4e97c225bc8/result.json SHA256 1af53221b4745a51325ccf8e66133f1253ae2db7cd50b9ea681c18658d39c008</a:t>
            </a:r>
          </a:p>
          <a:p xmlns:a="http://schemas.openxmlformats.org/drawingml/2006/main">
            <a:r>
              <a:t>validation/persistent-shift-2026-06/comparison.json SHA256 d0355b0a660d75381dff7411a389b5181e8db3cfeabf30041909fd2981934048</a:t>
            </a:r>
          </a:p>
          <a:p xmlns:a="http://schemas.openxmlformats.org/drawingml/2006/main">
            <a:r>
              <a:t>validation/persistent-shift-2026-06/acceptance.json SHA256 15705a3d9d58348b60a50a314c33c90e3e76f6416449d81d72aa157e10b8535a</a:t>
            </a:r>
          </a:p>
          <a:p xmlns:a="http://schemas.openxmlformats.org/drawingml/2006/main">
            <a:r>
              <a:t>SimBench https://simbench.de/en/download/datasets/ ODbL1.0 / DbCL1.0。德国原始2016曲线按连续时段映射到中国时区2026仿真场景，非中国园区实测。公开回放 https://jinyh.github.io/energy-campus/ 。月度示范与72小时RSI研究分别记账。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证据字段：explanation.rows / saving_components</a:t>
            </a:r>
          </a:p>
          <a:p xmlns:a="http://schemas.openxmlformats.org/drawingml/2006/main">
            <a:r>
              <a:t>未计算企业利润或真实现场收益。采用相同服务、安全与初末库存条件。</a:t>
            </a:r>
          </a:p>
          <a:p xmlns:a="http://schemas.openxmlformats.org/drawingml/2006/main">
            <a:r>
              <a:t>results/v32/jobs/310912a4ad924de6-summary.json SHA256 7274d16c5508057ac956a9056930a3b4b4e9fab4f664c1c707be827a50ca8ac1</a:t>
            </a:r>
          </a:p>
          <a:p xmlns:a="http://schemas.openxmlformats.org/drawingml/2006/main">
            <a:r>
              <a:t>results/v32/improvements/4de87f7924b021d8/result.json SHA256 3d7e1bfbabeb55fd41f0c0696eaaca947950262e877b83d133505920d06671f3</a:t>
            </a:r>
          </a:p>
          <a:p xmlns:a="http://schemas.openxmlformats.org/drawingml/2006/main">
            <a:r>
              <a:t>results/v32/opportunity/7a6aa4e97c225bc8/result.json SHA256 1af53221b4745a51325ccf8e66133f1253ae2db7cd50b9ea681c18658d39c008</a:t>
            </a:r>
          </a:p>
          <a:p xmlns:a="http://schemas.openxmlformats.org/drawingml/2006/main">
            <a:r>
              <a:t>validation/persistent-shift-2026-06/comparison.json SHA256 d0355b0a660d75381dff7411a389b5181e8db3cfeabf30041909fd2981934048</a:t>
            </a:r>
          </a:p>
          <a:p xmlns:a="http://schemas.openxmlformats.org/drawingml/2006/main">
            <a:r>
              <a:t>validation/persistent-shift-2026-06/acceptance.json SHA256 15705a3d9d58348b60a50a314c33c90e3e76f6416449d81d72aa157e10b8535a</a:t>
            </a:r>
          </a:p>
          <a:p xmlns:a="http://schemas.openxmlformats.org/drawingml/2006/main">
            <a:r>
              <a:t>SimBench https://simbench.de/en/download/datasets/ ODbL1.0 / DbCL1.0。德国原始2016曲线按连续时段映射到中国时区2026仿真场景，非中国园区实测。公开回放 https://jinyh.github.io/energy-campus/ 。月度示范与72小时RSI研究分别记账。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证据字段：explanation.episodes[method=mpc]</a:t>
            </a:r>
          </a:p>
          <a:p xmlns:a="http://schemas.openxmlformats.org/drawingml/2006/main">
            <a:r>
              <a:t>本次六月轨迹没有修复事件，不将正常调度包装为异常修复。</a:t>
            </a:r>
          </a:p>
          <a:p xmlns:a="http://schemas.openxmlformats.org/drawingml/2006/main">
            <a:r>
              <a:t>results/v32/jobs/310912a4ad924de6-summary.json SHA256 7274d16c5508057ac956a9056930a3b4b4e9fab4f664c1c707be827a50ca8ac1</a:t>
            </a:r>
          </a:p>
          <a:p xmlns:a="http://schemas.openxmlformats.org/drawingml/2006/main">
            <a:r>
              <a:t>results/v32/improvements/4de87f7924b021d8/result.json SHA256 3d7e1bfbabeb55fd41f0c0696eaaca947950262e877b83d133505920d06671f3</a:t>
            </a:r>
          </a:p>
          <a:p xmlns:a="http://schemas.openxmlformats.org/drawingml/2006/main">
            <a:r>
              <a:t>results/v32/opportunity/7a6aa4e97c225bc8/result.json SHA256 1af53221b4745a51325ccf8e66133f1253ae2db7cd50b9ea681c18658d39c008</a:t>
            </a:r>
          </a:p>
          <a:p xmlns:a="http://schemas.openxmlformats.org/drawingml/2006/main">
            <a:r>
              <a:t>validation/persistent-shift-2026-06/comparison.json SHA256 d0355b0a660d75381dff7411a389b5181e8db3cfeabf30041909fd2981934048</a:t>
            </a:r>
          </a:p>
          <a:p xmlns:a="http://schemas.openxmlformats.org/drawingml/2006/main">
            <a:r>
              <a:t>validation/persistent-shift-2026-06/acceptance.json SHA256 15705a3d9d58348b60a50a314c33c90e3e76f6416449d81d72aa157e10b8535a</a:t>
            </a:r>
          </a:p>
          <a:p xmlns:a="http://schemas.openxmlformats.org/drawingml/2006/main">
            <a:r>
              <a:t>SimBench https://simbench.de/en/download/datasets/ ODbL1.0 / DbCL1.0。德国原始2016曲线按连续时段映射到中国时区2026仿真场景，非中国园区实测。公开回放 https://jinyh.github.io/energy-campus/ 。月度示范与72小时RSI研究分别记账。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证据字段：city_programs / city_improvements / fixed experiment manifest</a:t>
            </a:r>
          </a:p>
          <a:p xmlns:a="http://schemas.openxmlformats.org/drawingml/2006/main">
            <a:r>
              <a:t>框架实现和合成继承测试不等于实际RSI优势。</a:t>
            </a:r>
          </a:p>
          <a:p xmlns:a="http://schemas.openxmlformats.org/drawingml/2006/main">
            <a:r>
              <a:t>results/v32/jobs/310912a4ad924de6-summary.json SHA256 7274d16c5508057ac956a9056930a3b4b4e9fab4f664c1c707be827a50ca8ac1</a:t>
            </a:r>
          </a:p>
          <a:p xmlns:a="http://schemas.openxmlformats.org/drawingml/2006/main">
            <a:r>
              <a:t>results/v32/improvements/4de87f7924b021d8/result.json SHA256 3d7e1bfbabeb55fd41f0c0696eaaca947950262e877b83d133505920d06671f3</a:t>
            </a:r>
          </a:p>
          <a:p xmlns:a="http://schemas.openxmlformats.org/drawingml/2006/main">
            <a:r>
              <a:t>results/v32/opportunity/7a6aa4e97c225bc8/result.json SHA256 1af53221b4745a51325ccf8e66133f1253ae2db7cd50b9ea681c18658d39c008</a:t>
            </a:r>
          </a:p>
          <a:p xmlns:a="http://schemas.openxmlformats.org/drawingml/2006/main">
            <a:r>
              <a:t>validation/persistent-shift-2026-06/comparison.json SHA256 d0355b0a660d75381dff7411a389b5181e8db3cfeabf30041909fd2981934048</a:t>
            </a:r>
          </a:p>
          <a:p xmlns:a="http://schemas.openxmlformats.org/drawingml/2006/main">
            <a:r>
              <a:t>validation/persistent-shift-2026-06/acceptance.json SHA256 15705a3d9d58348b60a50a314c33c90e3e76f6416449d81d72aa157e10b8535a</a:t>
            </a:r>
          </a:p>
          <a:p xmlns:a="http://schemas.openxmlformats.org/drawingml/2006/main">
            <a:r>
              <a:t>SimBench https://simbench.de/en/download/datasets/ ODbL1.0 / DbCL1.0。德国原始2016曲线按连续时段映射到中国时区2026仿真场景，非中国园区实测。公开回放 https://jinyh.github.io/energy-campus/ 。月度示范与72小时RSI研究分别记账。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证据字段：improvements manifest / result</a:t>
            </a:r>
          </a:p>
          <a:p xmlns:a="http://schemas.openxmlformats.org/drawingml/2006/main">
            <a:r>
              <a:t>其余四组未执行，不能把缺失数据画成零成本优势。</a:t>
            </a:r>
          </a:p>
          <a:p xmlns:a="http://schemas.openxmlformats.org/drawingml/2006/main">
            <a:r>
              <a:t>results/v32/jobs/310912a4ad924de6-summary.json SHA256 7274d16c5508057ac956a9056930a3b4b4e9fab4f664c1c707be827a50ca8ac1</a:t>
            </a:r>
          </a:p>
          <a:p xmlns:a="http://schemas.openxmlformats.org/drawingml/2006/main">
            <a:r>
              <a:t>results/v32/improvements/4de87f7924b021d8/result.json SHA256 3d7e1bfbabeb55fd41f0c0696eaaca947950262e877b83d133505920d06671f3</a:t>
            </a:r>
          </a:p>
          <a:p xmlns:a="http://schemas.openxmlformats.org/drawingml/2006/main">
            <a:r>
              <a:t>results/v32/opportunity/7a6aa4e97c225bc8/result.json SHA256 1af53221b4745a51325ccf8e66133f1253ae2db7cd50b9ea681c18658d39c008</a:t>
            </a:r>
          </a:p>
          <a:p xmlns:a="http://schemas.openxmlformats.org/drawingml/2006/main">
            <a:r>
              <a:t>validation/persistent-shift-2026-06/comparison.json SHA256 d0355b0a660d75381dff7411a389b5181e8db3cfeabf30041909fd2981934048</a:t>
            </a:r>
          </a:p>
          <a:p xmlns:a="http://schemas.openxmlformats.org/drawingml/2006/main">
            <a:r>
              <a:t>validation/persistent-shift-2026-06/acceptance.json SHA256 15705a3d9d58348b60a50a314c33c90e3e76f6416449d81d72aa157e10b8535a</a:t>
            </a:r>
          </a:p>
          <a:p xmlns:a="http://schemas.openxmlformats.org/drawingml/2006/main">
            <a:r>
              <a:t>SimBench https://simbench.de/en/download/datasets/ ODbL1.0 / DbCL1.0。德国原始2016曲线按连续时段映射到中国时区2026仿真场景，非中国园区实测。公开回放 https://jinyh.github.io/energy-campus/ 。月度示范与72小时RSI研究分别记账。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证据字段：improvements/4de87f7924b021d8/result / admission / holdout</a:t>
            </a:r>
          </a:p>
          <a:p xmlns:a="http://schemas.openxmlformats.org/drawingml/2006/main">
            <a:r>
              <a:t>停止条件在调用前冻结；没有伪造模型候选或进化动画。</a:t>
            </a:r>
          </a:p>
          <a:p xmlns:a="http://schemas.openxmlformats.org/drawingml/2006/main">
            <a:r>
              <a:t>results/v32/jobs/310912a4ad924de6-summary.json SHA256 7274d16c5508057ac956a9056930a3b4b4e9fab4f664c1c707be827a50ca8ac1</a:t>
            </a:r>
          </a:p>
          <a:p xmlns:a="http://schemas.openxmlformats.org/drawingml/2006/main">
            <a:r>
              <a:t>results/v32/improvements/4de87f7924b021d8/result.json SHA256 3d7e1bfbabeb55fd41f0c0696eaaca947950262e877b83d133505920d06671f3</a:t>
            </a:r>
          </a:p>
          <a:p xmlns:a="http://schemas.openxmlformats.org/drawingml/2006/main">
            <a:r>
              <a:t>results/v32/opportunity/7a6aa4e97c225bc8/result.json SHA256 1af53221b4745a51325ccf8e66133f1253ae2db7cd50b9ea681c18658d39c008</a:t>
            </a:r>
          </a:p>
          <a:p xmlns:a="http://schemas.openxmlformats.org/drawingml/2006/main">
            <a:r>
              <a:t>validation/persistent-shift-2026-06/comparison.json SHA256 d0355b0a660d75381dff7411a389b5181e8db3cfeabf30041909fd2981934048</a:t>
            </a:r>
          </a:p>
          <a:p xmlns:a="http://schemas.openxmlformats.org/drawingml/2006/main">
            <a:r>
              <a:t>validation/persistent-shift-2026-06/acceptance.json SHA256 15705a3d9d58348b60a50a314c33c90e3e76f6416449d81d72aa157e10b8535a</a:t>
            </a:r>
          </a:p>
          <a:p xmlns:a="http://schemas.openxmlformats.org/drawingml/2006/main">
            <a:r>
              <a:t>SimBench https://simbench.de/en/download/datasets/ ODbL1.0 / DbCL1.0。德国原始2016曲线按连续时段映射到中国时区2026仿真场景，非中国园区实测。公开回放 https://jinyh.github.io/energy-campus/ 。月度示范与72小时RSI研究分别记账。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证据字段：opportunity/7a6aa4e97c225bc8/result</a:t>
            </a:r>
          </a:p>
          <a:p xmlns:a="http://schemas.openxmlformats.org/drawingml/2006/main">
            <a:r>
              <a:t>新增11520 AC、4680 MILP；不使用验证或最终留出任务。</a:t>
            </a:r>
          </a:p>
          <a:p xmlns:a="http://schemas.openxmlformats.org/drawingml/2006/main">
            <a:r>
              <a:t>results/v32/jobs/310912a4ad924de6-summary.json SHA256 7274d16c5508057ac956a9056930a3b4b4e9fab4f664c1c707be827a50ca8ac1</a:t>
            </a:r>
          </a:p>
          <a:p xmlns:a="http://schemas.openxmlformats.org/drawingml/2006/main">
            <a:r>
              <a:t>results/v32/improvements/4de87f7924b021d8/result.json SHA256 3d7e1bfbabeb55fd41f0c0696eaaca947950262e877b83d133505920d06671f3</a:t>
            </a:r>
          </a:p>
          <a:p xmlns:a="http://schemas.openxmlformats.org/drawingml/2006/main">
            <a:r>
              <a:t>results/v32/opportunity/7a6aa4e97c225bc8/result.json SHA256 1af53221b4745a51325ccf8e66133f1253ae2db7cd50b9ea681c18658d39c008</a:t>
            </a:r>
          </a:p>
          <a:p xmlns:a="http://schemas.openxmlformats.org/drawingml/2006/main">
            <a:r>
              <a:t>validation/persistent-shift-2026-06/comparison.json SHA256 d0355b0a660d75381dff7411a389b5181e8db3cfeabf30041909fd2981934048</a:t>
            </a:r>
          </a:p>
          <a:p xmlns:a="http://schemas.openxmlformats.org/drawingml/2006/main">
            <a:r>
              <a:t>validation/persistent-shift-2026-06/acceptance.json SHA256 15705a3d9d58348b60a50a314c33c90e3e76f6416449d81d72aa157e10b8535a</a:t>
            </a:r>
          </a:p>
          <a:p xmlns:a="http://schemas.openxmlformats.org/drawingml/2006/main">
            <a:r>
              <a:t>SimBench https://simbench.de/en/download/datasets/ ODbL1.0 / DbCL1.0。德国原始2016曲线按连续时段映射到中国时区2026仿真场景，非中国园区实测。公开回放 https://jinyh.github.io/energy-campus/ 。月度示范与72小时RSI研究分别记账。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证据字段：persistent-shift acceptance / forecast_diagnostics / perturbation</a:t>
            </a:r>
          </a:p>
          <a:p xmlns:a="http://schemas.openxmlformats.org/drawingml/2006/main">
            <a:r>
              <a:t>原第2日扰动和原72小时研究保持不变。诊断只使用目标时刻严格早于当前决策的样本。</a:t>
            </a:r>
          </a:p>
          <a:p xmlns:a="http://schemas.openxmlformats.org/drawingml/2006/main">
            <a:r>
              <a:t>results/v32/jobs/310912a4ad924de6-summary.json SHA256 7274d16c5508057ac956a9056930a3b4b4e9fab4f664c1c707be827a50ca8ac1</a:t>
            </a:r>
          </a:p>
          <a:p xmlns:a="http://schemas.openxmlformats.org/drawingml/2006/main">
            <a:r>
              <a:t>results/v32/improvements/4de87f7924b021d8/result.json SHA256 3d7e1bfbabeb55fd41f0c0696eaaca947950262e877b83d133505920d06671f3</a:t>
            </a:r>
          </a:p>
          <a:p xmlns:a="http://schemas.openxmlformats.org/drawingml/2006/main">
            <a:r>
              <a:t>results/v32/opportunity/7a6aa4e97c225bc8/result.json SHA256 1af53221b4745a51325ccf8e66133f1253ae2db7cd50b9ea681c18658d39c008</a:t>
            </a:r>
          </a:p>
          <a:p xmlns:a="http://schemas.openxmlformats.org/drawingml/2006/main">
            <a:r>
              <a:t>validation/persistent-shift-2026-06/comparison.json SHA256 d0355b0a660d75381dff7411a389b5181e8db3cfeabf30041909fd2981934048</a:t>
            </a:r>
          </a:p>
          <a:p xmlns:a="http://schemas.openxmlformats.org/drawingml/2006/main">
            <a:r>
              <a:t>validation/persistent-shift-2026-06/acceptance.json SHA256 15705a3d9d58348b60a50a314c33c90e3e76f6416449d81d72aa157e10b8535a</a:t>
            </a:r>
          </a:p>
          <a:p xmlns:a="http://schemas.openxmlformats.org/drawingml/2006/main">
            <a:r>
              <a:t>SimBench https://simbench.de/en/download/datasets/ ODbL1.0 / DbCL1.0。德国原始2016曲线按连续时段映射到中国时区2026仿真场景，非中国园区实测。公开回放 https://jinyh.github.io/energy-campus/ 。月度示范与72小时RSI研究分别记账。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证据字段：persistent-shift comparison / business_query_ledger</a:t>
            </a:r>
          </a:p>
          <a:p xmlns:a="http://schemas.openxmlformats.org/drawingml/2006/main">
            <a:r>
              <a:t>这组对照不包含F/G程序晋升或跨轮继承，不能归因为RSI。成本差仅在双方均合格时报告。</a:t>
            </a:r>
          </a:p>
          <a:p xmlns:a="http://schemas.openxmlformats.org/drawingml/2006/main">
            <a:r>
              <a:t>results/v32/jobs/310912a4ad924de6-summary.json SHA256 7274d16c5508057ac956a9056930a3b4b4e9fab4f664c1c707be827a50ca8ac1</a:t>
            </a:r>
          </a:p>
          <a:p xmlns:a="http://schemas.openxmlformats.org/drawingml/2006/main">
            <a:r>
              <a:t>results/v32/improvements/4de87f7924b021d8/result.json SHA256 3d7e1bfbabeb55fd41f0c0696eaaca947950262e877b83d133505920d06671f3</a:t>
            </a:r>
          </a:p>
          <a:p xmlns:a="http://schemas.openxmlformats.org/drawingml/2006/main">
            <a:r>
              <a:t>results/v32/opportunity/7a6aa4e97c225bc8/result.json SHA256 1af53221b4745a51325ccf8e66133f1253ae2db7cd50b9ea681c18658d39c008</a:t>
            </a:r>
          </a:p>
          <a:p xmlns:a="http://schemas.openxmlformats.org/drawingml/2006/main">
            <a:r>
              <a:t>validation/persistent-shift-2026-06/comparison.json SHA256 d0355b0a660d75381dff7411a389b5181e8db3cfeabf30041909fd2981934048</a:t>
            </a:r>
          </a:p>
          <a:p xmlns:a="http://schemas.openxmlformats.org/drawingml/2006/main">
            <a:r>
              <a:t>validation/persistent-shift-2026-06/acceptance.json SHA256 15705a3d9d58348b60a50a314c33c90e3e76f6416449d81d72aa157e10b8535a</a:t>
            </a:r>
          </a:p>
          <a:p xmlns:a="http://schemas.openxmlformats.org/drawingml/2006/main">
            <a:r>
              <a:t>SimBench https://simbench.de/en/download/datasets/ ODbL1.0 / DbCL1.0。德国原始2016曲线按连续时段映射到中国时区2026仿真场景，非中国园区实测。公开回放 https://jinyh.github.io/energy-campus/ 。月度示范与72小时RSI研究分别记账。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证据字段：public replay manifest / offline package</a:t>
            </a:r>
          </a:p>
          <a:p xmlns:a="http://schemas.openxmlformats.org/drawingml/2006/main">
            <a:r>
              <a:t>下一步研究需有明确工程难题和新的未揭示评价任务；本轮不宣称RSI优势。</a:t>
            </a:r>
          </a:p>
          <a:p xmlns:a="http://schemas.openxmlformats.org/drawingml/2006/main">
            <a:r>
              <a:t>results/v32/jobs/310912a4ad924de6-summary.json SHA256 7274d16c5508057ac956a9056930a3b4b4e9fab4f664c1c707be827a50ca8ac1</a:t>
            </a:r>
          </a:p>
          <a:p xmlns:a="http://schemas.openxmlformats.org/drawingml/2006/main">
            <a:r>
              <a:t>results/v32/improvements/4de87f7924b021d8/result.json SHA256 3d7e1bfbabeb55fd41f0c0696eaaca947950262e877b83d133505920d06671f3</a:t>
            </a:r>
          </a:p>
          <a:p xmlns:a="http://schemas.openxmlformats.org/drawingml/2006/main">
            <a:r>
              <a:t>results/v32/opportunity/7a6aa4e97c225bc8/result.json SHA256 1af53221b4745a51325ccf8e66133f1253ae2db7cd50b9ea681c18658d39c008</a:t>
            </a:r>
          </a:p>
          <a:p xmlns:a="http://schemas.openxmlformats.org/drawingml/2006/main">
            <a:r>
              <a:t>validation/persistent-shift-2026-06/comparison.json SHA256 d0355b0a660d75381dff7411a389b5181e8db3cfeabf30041909fd2981934048</a:t>
            </a:r>
          </a:p>
          <a:p xmlns:a="http://schemas.openxmlformats.org/drawingml/2006/main">
            <a:r>
              <a:t>validation/persistent-shift-2026-06/acceptance.json SHA256 15705a3d9d58348b60a50a314c33c90e3e76f6416449d81d72aa157e10b8535a</a:t>
            </a:r>
          </a:p>
          <a:p xmlns:a="http://schemas.openxmlformats.org/drawingml/2006/main">
            <a:r>
              <a:t>SimBench https://simbench.de/en/download/datasets/ ODbL1.0 / DbCL1.0。德国原始2016曲线按连续时段映射到中国时区2026仿真场景，非中国园区实测。公开回放 https://jinyh.github.io/energy-campus/ 。月度示范与72小时RSI研究分别记账。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3134e3f791944b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f0309ff1d0c49d1" /><Relationship Type="http://schemas.openxmlformats.org/officeDocument/2006/relationships/slideLayout" Target="/ppt/slideLayouts/slideLayout1.xml" Id="R125a502dfd704d1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25a502dfd704d1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9e6cd4b688461d" /><Relationship Type="http://schemas.openxmlformats.org/officeDocument/2006/relationships/notesSlide" Target="/ppt/notesSlides/notesSlide1.xml" Id="Rb56801552f1547b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6814bb71174fbc" /><Relationship Type="http://schemas.openxmlformats.org/officeDocument/2006/relationships/image" Target="/ppt/media/image.jpeg" Id="R83ccf00fa7264479" /><Relationship Type="http://schemas.openxmlformats.org/officeDocument/2006/relationships/notesSlide" Target="/ppt/notesSlides/notesSlide2.xml" Id="R95f6f57e4c07464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801b4f23294f8f" /><Relationship Type="http://schemas.openxmlformats.org/officeDocument/2006/relationships/notesSlide" Target="/ppt/notesSlides/notesSlide3.xml" Id="R3a409c05312f469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1337b1e7d5407b" /><Relationship Type="http://schemas.openxmlformats.org/officeDocument/2006/relationships/notesSlide" Target="/ppt/notesSlides/notesSlide4.xml" Id="R2471f57ec622411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2f2b8fb7544e7d" /><Relationship Type="http://schemas.openxmlformats.org/officeDocument/2006/relationships/notesSlide" Target="/ppt/notesSlides/notesSlide5.xml" Id="Ra7487c4dfc5e491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d75def603d4519" /><Relationship Type="http://schemas.openxmlformats.org/officeDocument/2006/relationships/notesSlide" Target="/ppt/notesSlides/notesSlide6.xml" Id="Rdfac10ac95b34ea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9ae0092b534212" /><Relationship Type="http://schemas.openxmlformats.org/officeDocument/2006/relationships/notesSlide" Target="/ppt/notesSlides/notesSlide7.xml" Id="R6a79935a119748c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14577ef0304a4d" /><Relationship Type="http://schemas.openxmlformats.org/officeDocument/2006/relationships/notesSlide" Target="/ppt/notesSlides/notesSlide8.xml" Id="R7a111232d24e454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9c83b24afa4831" /><Relationship Type="http://schemas.openxmlformats.org/officeDocument/2006/relationships/notesSlide" Target="/ppt/notesSlides/notesSlide9.xml" Id="Rf8093b6144bd4cf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e8f24b71f14eac" /><Relationship Type="http://schemas.openxmlformats.org/officeDocument/2006/relationships/notesSlide" Target="/ppt/notesSlides/notesSlide10.xml" Id="R08a6edf9cf35406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b5e484972d4160" /><Relationship Type="http://schemas.openxmlformats.org/officeDocument/2006/relationships/notesSlide" Target="/ppt/notesSlides/notesSlide11.xml" Id="R9c31cafa75b64dd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3abc9bcb094d46" /><Relationship Type="http://schemas.openxmlformats.org/officeDocument/2006/relationships/image" Target="/ppt/media/image2.jpeg" Id="R400d428c51664935" /><Relationship Type="http://schemas.openxmlformats.org/officeDocument/2006/relationships/notesSlide" Target="/ppt/notesSlides/notesSlide12.xml" Id="R182475229bb94c5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D19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D864E90-6E39-4226-876A-FA0FCD1A8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95275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12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rPr>
              <a:t>光伏 · 储能 · 充电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2A6855A-3C7C-4DAA-888C-B71B844BE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85800"/>
            <a:ext cx="109061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150" b="1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rPr>
              <a:t>园区能源运营演示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B7F91EE-CF4F-4CC5-9123-C7A527014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19225"/>
            <a:ext cx="10906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526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FAD54F3-6919-4D6A-BBBB-69A02D483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14312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125" b="1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4125" b="1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rPr>
              <a:t>2026 年 6 月仿真场景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D9472E-501C-4A29-9626-68CCC9CB5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381375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 b="0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rPr>
              <a:t>连续整月回放、同口径方案比较、可追溯程序记录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DB8952-4B37-4F18-9ADF-B3B01B85F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438650"/>
            <a:ext cx="10572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rPr>
              <a:t>https://jinyh.github.io/energy-campus/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C75C50E-D6EE-4F4C-BE7D-28E6B878E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476875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北京时间 UTC+08:00 · SimBench 德国历史曲线 · RSI 优势待验证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B720187-8556-4931-9E79-F7F6FF44B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467475"/>
            <a:ext cx="1009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97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2026年6月仿真 · v3.2 · 公开基准验证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9713E6-F046-45C1-A2F9-5D47E92B6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293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1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24470914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D19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AEC10BC-B9B3-46E9-A3C1-E0A42C5B5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95275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12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rPr>
              <a:t>在线演示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AC72CA2-E0E5-4CF7-98E6-F8FE2E7B2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85800"/>
            <a:ext cx="109061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150" b="1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rPr>
              <a:t>场景主导的运行回放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C9E131-C929-4F3F-8E61-F15FCC505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19225"/>
            <a:ext cx="10906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526D"/>
          </a:solidFill>
          <a:ln xmlns:a="http://schemas.openxmlformats.org/drawingml/2006/main" w="0">
            <a:noFill/>
          </a:ln>
        </p:spPr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ccf00fa7264479"/>
          <a:stretch xmlns:a="http://schemas.openxmlformats.org/drawingml/2006/main"/>
        </p:blipFill>
        <p:spPr>
          <a:xfrm xmlns:a="http://schemas.openxmlformats.org/drawingml/2006/main">
            <a:off x="2495910" y="1647825"/>
            <a:ext cx="7200181" cy="40481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1E78EB-9B15-42D9-B7FD-ADEDB7F0D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857875"/>
            <a:ext cx="10572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rPr>
              <a:t>日期与方案共用播放时钟；日景、夜景、设备近景与线路图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0DD71AB-522C-4FF8-B444-312C10638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467475"/>
            <a:ext cx="1009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97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2026年6月仿真 · v3.2 · 公开基准验证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85BDC33-B259-40C3-9E75-05317CDFC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293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1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80722679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D19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99F57B5-474E-4449-9975-48D31B510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95275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12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rPr>
              <a:t>数据口径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DA2D23-AFA3-470B-894F-8B3DC4924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85800"/>
            <a:ext cx="109061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150" b="1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rPr>
              <a:t>月度场景与结算边界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69068A1-1E43-498A-B7DF-1A9B224FE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19225"/>
            <a:ext cx="10906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526D"/>
          </a:solidFill>
          <a:ln xmlns:a="http://schemas.openxmlformats.org/drawingml/2006/main" w="0">
            <a:noFill/>
          </a:ln>
        </p:spPr>
      </p:sp>
      <p:graphicFrame>
        <p:nvGraphicFramePr>
          <p:cNvPr id="11" name=""/>
          <p:cNvGraphicFramePr/>
          <p:nvPr/>
        </p:nvGraphicFramePr>
        <p:xfrm>
          <a:off xmlns:a="http://schemas.openxmlformats.org/drawingml/2006/main" x="666750" y="1762125"/>
          <a:ext xmlns:a="http://schemas.openxmlformats.org/drawingml/2006/main" cx="10858500" cy="37814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381250"/>
                <a:gridCol w="8477250"/>
              </a:tblGrid>
              <a:tr h="540204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项目</a:t>
                      </a:r>
                    </a:p>
                  </a:txBody>
                  <a:tcPr marL="95250" marR="95250" marT="9525" marB="9525" anchor="ctr">
                    <a:solidFill>
                      <a:srgbClr val="28465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本次口径</a:t>
                      </a:r>
                    </a:p>
                  </a:txBody>
                  <a:tcPr marL="95250" marR="95250" marT="9525" marB="9525" anchor="ctr">
                    <a:solidFill>
                      <a:srgbClr val="28465F"/>
                    </a:solidFill>
                  </a:tcPr>
                </a:tc>
              </a:tr>
              <a:tr h="540204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月份与时间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2026 年 6 月；2,880 × 15 分钟；北京时间 UTC+08:00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</a:tr>
              <a:tr h="540204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数据来源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SimBench 2016 年同月及此前连续历史；保留时间映射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</a:tr>
              <a:tr h="540204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设备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储能 100 kW / 400 kWh；8 个 22 kW 充电终端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</a:tr>
              <a:tr h="540204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连续状态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跨日保留 SOC 和车辆需求；初末库存均为 200 kWh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</a:tr>
              <a:tr h="540204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合同与成本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固定分时合同；购电费 − 上网收入 + 储能折损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</a:tr>
              <a:tr h="540204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计算账本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三基线 8,640 次 AC / 1,440 次 MILP；模型调用 0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254906E-5E75-424B-8882-8B14647A6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781675"/>
            <a:ext cx="10572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rPr>
              <a:t>在线版提供六月日常与持续偏移回放，本机版负责参数与导入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314B74-F5AC-40C4-B184-54141953D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467475"/>
            <a:ext cx="1009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97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2026年6月仿真 · v3.2 · 公开基准验证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A65B8FA-5AE0-4820-8826-F5E2033F7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293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1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37125460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D19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F280B3A-1793-4C78-B87A-DAECE5338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95275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12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rPr>
              <a:t>整月优势比较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CBB7515-BFAF-4B78-BEBD-34904F22B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85800"/>
            <a:ext cx="109061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150" b="1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rPr>
              <a:t>三种方案均合格，滚动优化节省 480.12 元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4D9BF5-FB15-4278-AD9B-5394240B8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19225"/>
            <a:ext cx="10906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526D"/>
          </a:solidFill>
          <a:ln xmlns:a="http://schemas.openxmlformats.org/drawingml/2006/main" w="0">
            <a:noFill/>
          </a:ln>
        </p:spPr>
      </p:sp>
      <p:graphicFrame>
        <p:nvGraphicFramePr>
          <p:cNvPr id="13" name=""/>
          <p:cNvGraphicFramePr/>
          <p:nvPr/>
        </p:nvGraphicFramePr>
        <p:xfrm>
          <a:off xmlns:a="http://schemas.openxmlformats.org/drawingml/2006/main" x="666750" y="1762125"/>
          <a:ext xmlns:a="http://schemas.openxmlformats.org/drawingml/2006/main" cx="10858500" cy="2286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857500"/>
                <a:gridCol w="2381250"/>
                <a:gridCol w="2381250"/>
                <a:gridCol w="1524000"/>
                <a:gridCol w="1714500"/>
              </a:tblGrid>
              <a:tr h="571500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方案</a:t>
                      </a:r>
                    </a:p>
                  </a:txBody>
                  <a:tcPr marL="95250" marR="95250" marT="9525" marB="9525" anchor="ctr">
                    <a:solidFill>
                      <a:srgbClr val="28465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运行成本 / 元</a:t>
                      </a:r>
                    </a:p>
                  </a:txBody>
                  <a:tcPr marL="95250" marR="95250" marT="9525" marB="9525" anchor="ctr">
                    <a:solidFill>
                      <a:srgbClr val="28465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比规则节省 / 元</a:t>
                      </a:r>
                    </a:p>
                  </a:txBody>
                  <a:tcPr marL="95250" marR="95250" marT="9525" marB="9525" anchor="ctr">
                    <a:solidFill>
                      <a:srgbClr val="28465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节省比例</a:t>
                      </a:r>
                    </a:p>
                  </a:txBody>
                  <a:tcPr marL="95250" marR="95250" marT="9525" marB="9525" anchor="ctr">
                    <a:solidFill>
                      <a:srgbClr val="28465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安全与履约</a:t>
                      </a:r>
                    </a:p>
                  </a:txBody>
                  <a:tcPr marL="95250" marR="95250" marT="9525" marB="9525" anchor="ctr">
                    <a:solidFill>
                      <a:srgbClr val="28465F"/>
                    </a:solidFill>
                  </a:tcPr>
                </a:tc>
              </a:tr>
              <a:tr h="571500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规则调度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78,871.91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—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—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通过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</a:tr>
              <a:tr h="571500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滚动优化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78,391.79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480.12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0.609%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通过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</a:tr>
              <a:tr h="571500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情景滚动优化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78,533.90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338.01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0.429%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通过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B7373D-6601-4D64-88B3-ED537AA1A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352925"/>
            <a:ext cx="1047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1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rPr>
              <a:t>滚动优化的费用分解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FA7DB8-95E8-4E42-AF89-9BDD390FF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924425"/>
            <a:ext cx="104775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rPr>
              <a:t>购电费差额 488.73 + 上网收入变化 -9.61</a:t>
            </a:r>
          </a:p>
          <a:p xmlns:a="http://schemas.openxmlformats.org/drawingml/2006/main">
            <a:pPr algn="l">
              <a:defRPr sz="2100" b="0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rPr>
              <a:t>+ 折损差额 1.00 = 全月节省 480.12 元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1855766-D7DA-4799-93D2-7B3D1D00F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905500"/>
            <a:ext cx="105727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97826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属于工程调度收益；本月未观察到情景优化的可靠性优势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9C963F7-8FCA-4A4D-A6D6-065A9A6E4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467475"/>
            <a:ext cx="1009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97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2026年6月仿真 · v3.2 · 公开基准验证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1938614-A9BF-4EA6-95BC-5C534C849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293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1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49497739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D19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50E7529-CB14-4BCF-8B6F-6365E6007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95275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12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rPr>
              <a:t>机理讲解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D40EBF-7A23-48DC-B96A-DCA01C2E2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85800"/>
            <a:ext cx="109061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150" b="1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rPr>
              <a:t>调度如何改变同一时刻的充电行为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36BA03-E8EE-4803-9187-8E3606194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19225"/>
            <a:ext cx="10906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526D"/>
          </a:solidFill>
          <a:ln xmlns:a="http://schemas.openxmlformats.org/drawingml/2006/main" w="0">
            <a:noFill/>
          </a:ln>
        </p:spPr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66750" y="1762125"/>
          <a:ext xmlns:a="http://schemas.openxmlformats.org/drawingml/2006/main" cx="10858500" cy="22098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619500"/>
                <a:gridCol w="2428875"/>
                <a:gridCol w="2428875"/>
                <a:gridCol w="2381250"/>
              </a:tblGrid>
              <a:tr h="552450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06-01 08:30</a:t>
                      </a:r>
                    </a:p>
                  </a:txBody>
                  <a:tcPr marL="95250" marR="95250" marT="9525" marB="9525" anchor="ctr">
                    <a:solidFill>
                      <a:srgbClr val="28465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规则调度</a:t>
                      </a:r>
                    </a:p>
                  </a:txBody>
                  <a:tcPr marL="95250" marR="95250" marT="9525" marB="9525" anchor="ctr">
                    <a:solidFill>
                      <a:srgbClr val="28465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滚动优化</a:t>
                      </a:r>
                    </a:p>
                  </a:txBody>
                  <a:tcPr marL="95250" marR="95250" marT="9525" marB="9525" anchor="ctr">
                    <a:solidFill>
                      <a:srgbClr val="28465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情景优化</a:t>
                      </a:r>
                    </a:p>
                  </a:txBody>
                  <a:tcPr marL="95250" marR="95250" marT="9525" marB="9525" anchor="ctr">
                    <a:solidFill>
                      <a:srgbClr val="28465F"/>
                    </a:solidFill>
                  </a:tcPr>
                </a:tc>
              </a:tr>
              <a:tr h="552450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800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充电请求 / 实际 kW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800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176 / 176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800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0 / 0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800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22 / 22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</a:tr>
              <a:tr h="552450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800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关口购电 kW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800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432.92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800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254.89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800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277.09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</a:tr>
              <a:tr h="552450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800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储能 kW / 期初 kWh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800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0 / 400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800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0 / 400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800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0 / 400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18AC956-06C3-4316-B14A-8D9C41E6F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343400"/>
            <a:ext cx="10572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1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rPr>
              <a:t>08:00 已发布计划 → 在终端功率与截止需求内分配充电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116E41-289D-40C5-B1BB-63C6315CB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038725"/>
            <a:ext cx="10572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rPr>
              <a:t>滚动优化将部分需求留给后续时段，全月逐车截止履约仍通过。</a:t>
            </a:r>
          </a:p>
          <a:p xmlns:a="http://schemas.openxmlformats.org/drawingml/2006/main">
            <a:pPr algn="l">
              <a:defRPr sz="2025" b="0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rPr>
              <a:t>该时段用于事后讲解；收益由整月账本确认。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721B48F-DEA7-4550-AE54-BF798C12A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467475"/>
            <a:ext cx="1009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97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2026年6月仿真 · v3.2 · 公开基准验证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821D4F0-06C0-451F-A7DC-0E3F01527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293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1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35821714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D19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C575964-83E7-45AB-B7C9-2F005CD11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95275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12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rPr>
              <a:t>机制边界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BA80D2F-60F4-4E8C-A26B-4E661E60C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85800"/>
            <a:ext cx="109061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150" b="1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rPr>
              <a:t>预测、调度与自我改进的职责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1554B03-1BC7-4BFD-B85C-B708F2552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19225"/>
            <a:ext cx="10906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526D"/>
          </a:solidFill>
          <a:ln xmlns:a="http://schemas.openxmlformats.org/drawingml/2006/main" w="0">
            <a:noFill/>
          </a:ln>
        </p:spPr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66750" y="1762125"/>
          <a:ext xmlns:a="http://schemas.openxmlformats.org/drawingml/2006/main" cx="10858500" cy="3143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000250"/>
                <a:gridCol w="5095875"/>
                <a:gridCol w="3762375"/>
              </a:tblGrid>
              <a:tr h="628650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层次</a:t>
                      </a:r>
                    </a:p>
                  </a:txBody>
                  <a:tcPr marL="95250" marR="95250" marT="9525" marB="9525" anchor="ctr">
                    <a:solidFill>
                      <a:srgbClr val="28465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负责什么</a:t>
                      </a:r>
                    </a:p>
                  </a:txBody>
                  <a:tcPr marL="95250" marR="95250" marT="9525" marB="9525" anchor="ctr">
                    <a:solidFill>
                      <a:srgbClr val="28465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当前证据</a:t>
                      </a:r>
                    </a:p>
                  </a:txBody>
                  <a:tcPr marL="95250" marR="95250" marT="9525" marB="9525" anchor="ctr">
                    <a:solidFill>
                      <a:srgbClr val="28465F"/>
                    </a:solidFill>
                  </a:tcPr>
                </a:tc>
              </a:tr>
              <a:tr h="628650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预测工具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朴素 / GBDT / 已揭示残差校正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共享预测信息，合同电价已知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</a:tr>
              <a:tr h="628650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工程调度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按 SOC、车辆需求和设备权限安排动作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真实物理执行与同表计结算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</a:tr>
              <a:tr h="628650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处理程序 F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修改诊断、工具顺序、参数、复用与停止条件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当前在基线后组织试验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</a:tr>
              <a:tr h="628650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改进程序 G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修改证据选择、假设排序与验证预算分配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继承机制已实现，实际晋升 0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092F1F9-1DCC-44AB-BE3E-4558292B9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286375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1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rPr>
              <a:t>RSI 需要程序修改被后续任务继承，并产生可复核的收益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FD0ADA8-D4D1-40E0-ACA9-FA9017BB6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886450"/>
            <a:ext cx="105727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物理模型、安全标准、最终评价任务与总预算保持固定；本轮无 RL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C5BB71-A564-48F3-BC41-57D0A2ED7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467475"/>
            <a:ext cx="1009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97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2026年6月仿真 · v3.2 · 公开基准验证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62D4CD-1DE8-4CE5-88E5-553B15B93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293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1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32568543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D19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05B6E8A-34BA-46F8-B20F-24A13FBC3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95275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12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rPr>
              <a:t>冻结研究设计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552F6D-AC76-49D4-B45D-87D1EEE93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85800"/>
            <a:ext cx="109061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150" b="1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rPr>
              <a:t>优势归因所需的五组比较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EA6BB0-8F1F-4844-A206-384FA8D47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19225"/>
            <a:ext cx="10906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526D"/>
          </a:solidFill>
          <a:ln xmlns:a="http://schemas.openxmlformats.org/drawingml/2006/main" w="0">
            <a:noFill/>
          </a:ln>
        </p:spPr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66750" y="1762125"/>
          <a:ext xmlns:a="http://schemas.openxmlformats.org/drawingml/2006/main" cx="10858500" cy="3238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429000"/>
                <a:gridCol w="4953000"/>
                <a:gridCol w="2476500"/>
              </a:tblGrid>
              <a:tr h="539750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组别</a:t>
                      </a:r>
                    </a:p>
                  </a:txBody>
                  <a:tcPr marL="95250" marR="95250" marT="9525" marB="9525" anchor="ctr">
                    <a:solidFill>
                      <a:srgbClr val="28465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检验的因素</a:t>
                      </a:r>
                    </a:p>
                  </a:txBody>
                  <a:tcPr marL="95250" marR="95250" marT="9525" marB="9525" anchor="ctr">
                    <a:solidFill>
                      <a:srgbClr val="28465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实际状态</a:t>
                      </a:r>
                    </a:p>
                  </a:txBody>
                  <a:tcPr marL="95250" marR="95250" marT="9525" marB="9525" anchor="ctr">
                    <a:solidFill>
                      <a:srgbClr val="28465F"/>
                    </a:solidFill>
                  </a:tcPr>
                </a:tc>
              </a:tr>
              <a:tr h="539750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自适应工程基线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常规纠偏与修复能解决多少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已执行，触发停止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</a:tr>
              <a:tr h="539750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固定流程＋共同历史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增加经验本身的收益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未执行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</a:tr>
              <a:tr h="539750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改进 F、固定 G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普通自动流程优化的收益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未执行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</a:tr>
              <a:tr h="539750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RSI：同时改进 F / G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G 对后续改进的贡献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未执行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</a:tr>
              <a:tr h="539750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每轮重置版本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跨轮继承是否必要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未执行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E954F1-CC4B-4ED1-BBF5-72986268B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353050"/>
            <a:ext cx="10572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rPr>
              <a:t>3 轮：每轮 4 个开发＋2 个验证；另设 6 个最终留出任务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7D94B27-0248-4313-9181-0E3ED2833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895975"/>
            <a:ext cx="10572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72 小时研究使用原始数据时间，与六月业务示范分别记账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A59E9C6-088B-4A65-B41D-0BCB3E2F9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467475"/>
            <a:ext cx="1009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97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2026年6月仿真 · v3.2 · 公开基准验证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EAF6FAD-67A3-42BA-A780-25F4AAF0A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293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1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207678526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D19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8096733-C5D8-4103-8A5F-72B89F68D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95275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12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rPr>
              <a:t>真实研究状态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2D4FED-BDC0-4DE1-BFAD-F7B16B539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85800"/>
            <a:ext cx="109061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150" b="1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rPr>
              <a:t>工程基线已解决可行任务，RSI 按规则停止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833E09E-39CC-4DCB-96E0-E60375924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19225"/>
            <a:ext cx="10906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526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671A24-3282-45CB-818A-1E0872772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952625"/>
            <a:ext cx="10572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625" b="1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rPr>
              <a:t>开发任务：10 个直接合格；2 个为容量不足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29F7AF-AB1B-4D38-A990-08AAB5818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809875"/>
            <a:ext cx="105727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rPr>
              <a:t>冻结根版本后揭示 6 个留出任务：5 个合格，1 个资源不足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D58C83-805B-4A86-980A-E82FFF180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75285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526D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666F0FA-5F1A-4602-9057-47D1BA4BE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095750"/>
            <a:ext cx="10572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E9B67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1">
                <a:solidFill>
                  <a:srgbClr val="E9B675"/>
                </a:solidFill>
                <a:latin typeface="Hiragino Sans GB"/>
                <a:ea typeface="Hiragino Sans GB"/>
                <a:cs typeface="Hiragino Sans GB"/>
              </a:rPr>
              <a:t>0 次新增模型调用 · 0 次程序晋升 · 未形成继承优势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5BC3AE-6021-46F0-A580-97187A7BA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000625"/>
            <a:ext cx="105727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rPr>
              <a:t>每个 72 小时任务保留 288 次必需 AC 检查。</a:t>
            </a:r>
          </a:p>
          <a:p xmlns:a="http://schemas.openxmlformats.org/drawingml/2006/main">
            <a:pPr algn="l">
              <a:defRPr sz="2025" b="0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rPr>
              <a:t>额外搜索开销已为 0，当前任务不能证明 RSI 更高效。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D0C9D7-603E-4093-BFF5-2B14D4DED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467475"/>
            <a:ext cx="1009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97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2026年6月仿真 · v3.2 · 公开基准验证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21B88F5-C022-46A7-B7DD-7F654955A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293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1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205814301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D19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9B27741-2A90-485B-8D1E-15F207F18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95275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12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rPr>
              <a:t>开发段操作筛查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5AE1C7-78B1-4F32-9D0C-E5D72B2A0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85800"/>
            <a:ext cx="109061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150" b="1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rPr>
              <a:t>操作空间有效，但四项改动收益有限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22B6715-E1BF-4213-ACFD-949266603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19225"/>
            <a:ext cx="10906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526D"/>
          </a:solidFill>
          <a:ln xmlns:a="http://schemas.openxmlformats.org/drawingml/2006/main" w="0">
            <a:noFill/>
          </a:ln>
        </p:spPr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66750" y="1762125"/>
          <a:ext xmlns:a="http://schemas.openxmlformats.org/drawingml/2006/main" cx="10858500" cy="3143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000500"/>
                <a:gridCol w="2571750"/>
                <a:gridCol w="2190750"/>
                <a:gridCol w="2095500"/>
              </a:tblGrid>
              <a:tr h="523875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配置</a:t>
                      </a:r>
                    </a:p>
                  </a:txBody>
                  <a:tcPr marL="95250" marR="95250" marT="9525" marB="9525" anchor="ctr">
                    <a:solidFill>
                      <a:srgbClr val="28465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配对节省 / 元</a:t>
                      </a:r>
                    </a:p>
                  </a:txBody>
                  <a:tcPr marL="95250" marR="95250" marT="9525" marB="9525" anchor="ctr">
                    <a:solidFill>
                      <a:srgbClr val="28465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比例</a:t>
                      </a:r>
                    </a:p>
                  </a:txBody>
                  <a:tcPr marL="95250" marR="95250" marT="9525" marB="9525" anchor="ctr">
                    <a:solidFill>
                      <a:srgbClr val="28465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MILP 次数</a:t>
                      </a:r>
                    </a:p>
                  </a:txBody>
                  <a:tcPr marL="95250" marR="95250" marT="9525" marB="9525" anchor="ctr">
                    <a:solidFill>
                      <a:srgbClr val="28465F"/>
                    </a:solidFill>
                  </a:tcPr>
                </a:tc>
              </a:tr>
              <a:tr h="523875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原工程基线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—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—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720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</a:tr>
              <a:tr h="523875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15 分钟重排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33.07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0.0418%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2,880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</a:tr>
              <a:tr h="523875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2 小时重排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13.82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0.0175%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360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</a:tr>
              <a:tr h="523875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季节性朴素预测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2.87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0.0036%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720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</a:tr>
              <a:tr h="523875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25% 库存保护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−391.29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−0.4942%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720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12631D-D378-43E9-B131-1018C3938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219700"/>
            <a:ext cx="1057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rPr>
              <a:t>10 个可行开发任务；均有行为差异、均通过安全与服务检查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66B3C5F-795F-4E05-8D33-7C6839FDC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781675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87121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累计研究：16,704 次 AC / 5,976 次 MILP。未达到 1% 成本投入阈值。</a:t>
            </a:r>
          </a:p>
          <a:p xmlns:a="http://schemas.openxmlformats.org/drawingml/2006/main">
            <a:pPr algn="l">
              <a:defRPr sz="1650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重排次数属于常规求解开销；四项筛查不证明所有改动均无效。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4D51F2-4BD7-4DF5-8207-EFCF1C644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467475"/>
            <a:ext cx="1009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97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2026年6月仿真 · v3.2 · 公开基准验证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27A27FA-01FD-464A-B157-3AAD98278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293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1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95609406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D19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1AD00FA-EB13-40A8-A958-0C76BA32E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95275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12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rPr>
              <a:t>新增月度业务案例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FE5DA2-FDA8-4E8C-9C96-89C198A69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85800"/>
            <a:ext cx="109061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150" b="1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rPr>
              <a:t>持续供需偏移的逐时证据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89CAB80-BD17-4F6F-8A88-F796C2D18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19225"/>
            <a:ext cx="10906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526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176386-5237-4094-91D9-6FB7AC958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809750"/>
            <a:ext cx="10572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1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rPr>
              <a:t>第 2 日起至月末：负荷增加 28%，17–21 时增加 40%，光伏降至 55%</a:t>
            </a:r>
          </a:p>
        </p:txBody>
      </p:sp>
      <p:graphicFrame>
        <p:nvGraphicFramePr>
          <p:cNvPr id="14" name=""/>
          <p:cNvGraphicFramePr/>
          <p:nvPr/>
        </p:nvGraphicFramePr>
        <p:xfrm>
          <a:off xmlns:a="http://schemas.openxmlformats.org/drawingml/2006/main" x="666750" y="2667000"/>
          <a:ext xmlns:a="http://schemas.openxmlformats.org/drawingml/2006/main" cx="10858500" cy="2286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238500"/>
                <a:gridCol w="7620000"/>
              </a:tblGrid>
              <a:tr h="457200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诊断时刻</a:t>
                      </a:r>
                    </a:p>
                  </a:txBody>
                  <a:tcPr marL="95250" marR="95250" marT="9525" marB="9525" anchor="ctr">
                    <a:solidFill>
                      <a:srgbClr val="28465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北京时间 06-02 08:00</a:t>
                      </a:r>
                    </a:p>
                  </a:txBody>
                  <a:tcPr marL="95250" marR="95250" marT="9525" marB="9525" anchor="ctr">
                    <a:solidFill>
                      <a:srgbClr val="28465F"/>
                    </a:solidFill>
                  </a:tcPr>
                </a:tc>
              </a:tr>
              <a:tr h="457200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已揭示证据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124 条一小时提前量预测，最近七天窗口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</a:tr>
              <a:tr h="457200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平均残差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20.23 kW，相对偏差 11.19%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</a:tr>
              <a:tr h="457200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同号比例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75.00%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</a:tr>
              <a:tr h="457200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最新实值与发布值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384.93 kW / 143.85 kW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9416B70-0704-4662-8EFE-DADFA6F75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191125"/>
            <a:ext cx="10572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E9B67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1">
                <a:solidFill>
                  <a:srgbClr val="E9B675"/>
                </a:solidFill>
                <a:latin typeface="Hiragino Sans GB"/>
                <a:ea typeface="Hiragino Sans GB"/>
                <a:cs typeface="Hiragino Sans GB"/>
              </a:rPr>
              <a:t>规则方案累计过载 30 分钟，修复未完全解决，判为不合格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B6FA187-2715-4C27-8251-5FCC5D6C5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857875"/>
            <a:ext cx="10572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偏差门槛描述预测误差，不能直接判断设备故障。当前场景不含动态降额。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64A0DE4-596C-47FB-B66E-8E1857723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467475"/>
            <a:ext cx="1009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97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2026年6月仿真 · v3.2 · 公开基准验证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5299A1-35B3-4680-A2E1-4100C9ACD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293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1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71357409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D19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FC5E31F-D58F-4879-A6D8-24C9F8A02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95275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12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rPr>
              <a:t>共同工程工具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6ABD60A-E584-4C0B-A84A-4AEFE2C87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85800"/>
            <a:ext cx="109061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150" b="1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rPr>
              <a:t>滚动预测校正的实际经营比较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630C84B-C4D7-423A-948C-520E2576D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19225"/>
            <a:ext cx="10906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526D"/>
          </a:solidFill>
          <a:ln xmlns:a="http://schemas.openxmlformats.org/drawingml/2006/main" w="0">
            <a:noFill/>
          </a:ln>
        </p:spPr>
      </p:sp>
      <p:graphicFrame>
        <p:nvGraphicFramePr>
          <p:cNvPr id="13" name=""/>
          <p:cNvGraphicFramePr/>
          <p:nvPr/>
        </p:nvGraphicFramePr>
        <p:xfrm>
          <a:off xmlns:a="http://schemas.openxmlformats.org/drawingml/2006/main" x="666750" y="1905000"/>
          <a:ext xmlns:a="http://schemas.openxmlformats.org/drawingml/2006/main" cx="10858500" cy="22383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476500"/>
                <a:gridCol w="2333625"/>
                <a:gridCol w="2333625"/>
                <a:gridCol w="2095500"/>
                <a:gridCol w="1619250"/>
              </a:tblGrid>
              <a:tr h="559594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调度方案</a:t>
                      </a:r>
                    </a:p>
                  </a:txBody>
                  <a:tcPr marL="95250" marR="95250" marT="9525" marB="9525" anchor="ctr">
                    <a:solidFill>
                      <a:srgbClr val="28465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原始 / 元</a:t>
                      </a:r>
                    </a:p>
                  </a:txBody>
                  <a:tcPr marL="95250" marR="95250" marT="9525" marB="9525" anchor="ctr">
                    <a:solidFill>
                      <a:srgbClr val="28465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校正 / 元</a:t>
                      </a:r>
                    </a:p>
                  </a:txBody>
                  <a:tcPr marL="95250" marR="95250" marT="9525" marB="9525" anchor="ctr">
                    <a:solidFill>
                      <a:srgbClr val="28465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节省 / 元</a:t>
                      </a:r>
                    </a:p>
                  </a:txBody>
                  <a:tcPr marL="95250" marR="95250" marT="9525" marB="9525" anchor="ctr">
                    <a:solidFill>
                      <a:srgbClr val="28465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比例</a:t>
                      </a:r>
                    </a:p>
                  </a:txBody>
                  <a:tcPr marL="95250" marR="95250" marT="9525" marB="9525" anchor="ctr">
                    <a:solidFill>
                      <a:srgbClr val="28465F"/>
                    </a:solidFill>
                  </a:tcPr>
                </a:tc>
              </a:tr>
              <a:tr h="559594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规则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108,634.25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108,634.25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未同时合格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不可比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</a:tr>
              <a:tr h="559594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确定性 MPC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108,171.52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108,172.98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-1.46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-0.001%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</a:tr>
              <a:tr h="559594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情景 MPC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108,415.78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108,261.14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154.65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0.143%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320CE1-16A8-4E94-A2CD-A2D89A9EF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438650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1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rPr>
              <a:t>同一整月输入、合同与源码，仅改变各方案共享的预测工具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464DB8-9A39-4418-A998-41DDBD78E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0482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 b="0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rPr>
              <a:t>校正从本次运行开始参与优化，按发布时间使用已揭示残差。</a:t>
            </a:r>
          </a:p>
          <a:p xmlns:a="http://schemas.openxmlformats.org/drawingml/2006/main">
            <a:pPr algn="l">
              <a:defRPr sz="1875" b="0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 b="0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rPr>
              <a:t>规则调度不读取未来预测，安全检查保持完整。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CA235ED-784E-4497-A1A0-0A1B381FA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819775"/>
            <a:ext cx="105727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7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业务账本单列：8645 AC / 1440 MILP，8645 AC / 1440 MILP。模型调用 0。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D2BCEB8-24E7-4A65-86C2-02A59481E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467475"/>
            <a:ext cx="1009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97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2026年6月仿真 · v3.2 · 公开基准验证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851D7B0-5016-402E-822A-2352A9E00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293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1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85183666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D19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6AEA2AD-BC4F-4825-8DD7-7CE7E4562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95275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12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rPr>
              <a:t>交付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93BD06-D118-4185-AECA-EEF33CD41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85800"/>
            <a:ext cx="109061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150" b="1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rPr>
              <a:t>在线回放与本机复算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3A3937-D44B-4254-84E5-03E8BBDE7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19225"/>
            <a:ext cx="10906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526D"/>
          </a:solidFill>
          <a:ln xmlns:a="http://schemas.openxmlformats.org/drawingml/2006/main" w="0">
            <a:noFill/>
          </a:ln>
        </p:spPr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00d428c51664935"/>
          <a:stretch xmlns:a="http://schemas.openxmlformats.org/drawingml/2006/main"/>
        </p:blipFill>
        <p:spPr>
          <a:xfrm xmlns:a="http://schemas.openxmlformats.org/drawingml/2006/main">
            <a:off x="2495910" y="1647825"/>
            <a:ext cx="7200181" cy="40481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4632C2-4B75-421A-B48E-95059E972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810250"/>
            <a:ext cx="10572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rPr>
              <a:t>在线：六月日常和持续偏移、异常证据、实际工具比较；本机：数据与重算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58A10E-A43B-4C68-87F3-5406E29BB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467475"/>
            <a:ext cx="1009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97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2026年6月仿真 · v3.2 · 公开基准验证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E7D02E-BDEA-45B4-8C4D-3A7237591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293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1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20731264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2026-10-07T13:27:52.4110000Z</dcterms:created>
  <dcterms:modified xsi:type="dcterms:W3CDTF">2026-10-07T13:27:52.4110000Z</dcterms:modified>
</coreProperties>
</file>