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076f61899f44b1" /><Relationship Type="http://schemas.openxmlformats.org/officeDocument/2006/relationships/extended-properties" Target="/docProps/app.xml" Id="R09e90026191641b6" /><Relationship Type="http://schemas.openxmlformats.org/officeDocument/2006/relationships/officeDocument" Target="/ppt/presentation.xml" Id="R218174870c8644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5fa770473e4c6b"/>
  </p:sldMasterIdLst>
  <p:notesMasterIdLst>
    <p:notesMasterId xmlns:r="http://schemas.openxmlformats.org/officeDocument/2006/relationships" r:id="R04635323602f4034"/>
  </p:notesMasterIdLst>
  <p:sldIdLst>
    <p:sldId xmlns:r="http://schemas.openxmlformats.org/officeDocument/2006/relationships" id="256" r:id="R0a0ab0bfa8ba4400"/>
    <p:sldId xmlns:r="http://schemas.openxmlformats.org/officeDocument/2006/relationships" id="257" r:id="R1551432448b54ef6"/>
    <p:sldId xmlns:r="http://schemas.openxmlformats.org/officeDocument/2006/relationships" id="258" r:id="R0f246effaf47465b"/>
    <p:sldId xmlns:r="http://schemas.openxmlformats.org/officeDocument/2006/relationships" id="259" r:id="Rca78d74019544a29"/>
    <p:sldId xmlns:r="http://schemas.openxmlformats.org/officeDocument/2006/relationships" id="260" r:id="R136691f3480b4990"/>
    <p:sldId xmlns:r="http://schemas.openxmlformats.org/officeDocument/2006/relationships" id="261" r:id="R76ad8bafd13a47e5"/>
    <p:sldId xmlns:r="http://schemas.openxmlformats.org/officeDocument/2006/relationships" id="262" r:id="Ref6de3c7b2514141"/>
    <p:sldId xmlns:r="http://schemas.openxmlformats.org/officeDocument/2006/relationships" id="263" r:id="Rb9c08efcd0e5488e"/>
    <p:sldId xmlns:r="http://schemas.openxmlformats.org/officeDocument/2006/relationships" id="264" r:id="R1c7d1c3469d9470a"/>
    <p:sldId xmlns:r="http://schemas.openxmlformats.org/officeDocument/2006/relationships" id="265" r:id="R6a276c7df31948f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f16c5110e445e3" /><Relationship Type="http://schemas.openxmlformats.org/officeDocument/2006/relationships/slideMaster" Target="/ppt/slideMasters/slideMaster1.xml" Id="R3f5fa770473e4c6b" /><Relationship Type="http://schemas.openxmlformats.org/officeDocument/2006/relationships/notesMaster" Target="/ppt/notesMasters/notesMaster1.xml" Id="R04635323602f4034" /><Relationship Type="http://schemas.openxmlformats.org/officeDocument/2006/relationships/presProps" Target="/ppt/presProps.xml" Id="Rea08fc40467d406a" /><Relationship Type="http://schemas.openxmlformats.org/officeDocument/2006/relationships/tableStyles" Target="/ppt/tableStyles.xml" Id="Ref3fc6136fd34fba" /><Relationship Type="http://schemas.openxmlformats.org/officeDocument/2006/relationships/slide" Target="/ppt/slides/slide1.xml" Id="R0a0ab0bfa8ba4400" /><Relationship Type="http://schemas.openxmlformats.org/officeDocument/2006/relationships/slide" Target="/ppt/slides/slide2.xml" Id="R1551432448b54ef6" /><Relationship Type="http://schemas.openxmlformats.org/officeDocument/2006/relationships/slide" Target="/ppt/slides/slide3.xml" Id="R0f246effaf47465b" /><Relationship Type="http://schemas.openxmlformats.org/officeDocument/2006/relationships/slide" Target="/ppt/slides/slide4.xml" Id="Rca78d74019544a29" /><Relationship Type="http://schemas.openxmlformats.org/officeDocument/2006/relationships/slide" Target="/ppt/slides/slide5.xml" Id="R136691f3480b4990" /><Relationship Type="http://schemas.openxmlformats.org/officeDocument/2006/relationships/slide" Target="/ppt/slides/slide6.xml" Id="R76ad8bafd13a47e5" /><Relationship Type="http://schemas.openxmlformats.org/officeDocument/2006/relationships/slide" Target="/ppt/slides/slide7.xml" Id="Ref6de3c7b2514141" /><Relationship Type="http://schemas.openxmlformats.org/officeDocument/2006/relationships/slide" Target="/ppt/slides/slide8.xml" Id="Rb9c08efcd0e5488e" /><Relationship Type="http://schemas.openxmlformats.org/officeDocument/2006/relationships/slide" Target="/ppt/slides/slide9.xml" Id="R1c7d1c3469d9470a" /><Relationship Type="http://schemas.openxmlformats.org/officeDocument/2006/relationships/slide" Target="/ppt/slides/slide10.xml" Id="R6a276c7df31948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3dce4f7d504d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45214b09284d3f" /><Relationship Type="http://schemas.openxmlformats.org/officeDocument/2006/relationships/notesMaster" Target="/ppt/notesMasters/notesMaster1.xml" Id="R199fd0b2a1f040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3b7d1bf3ca4775" /><Relationship Type="http://schemas.openxmlformats.org/officeDocument/2006/relationships/notesMaster" Target="/ppt/notesMasters/notesMaster1.xml" Id="Rdbe882e25f074c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62ffd0d9b1452f" /><Relationship Type="http://schemas.openxmlformats.org/officeDocument/2006/relationships/notesMaster" Target="/ppt/notesMasters/notesMaster1.xml" Id="R3e7c2811f6f54f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5e74fc6c7948ea" /><Relationship Type="http://schemas.openxmlformats.org/officeDocument/2006/relationships/notesMaster" Target="/ppt/notesMasters/notesMaster1.xml" Id="Rfdad187da8bf46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894474ea934a5c" /><Relationship Type="http://schemas.openxmlformats.org/officeDocument/2006/relationships/notesMaster" Target="/ppt/notesMasters/notesMaster1.xml" Id="R9a99e37530f349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97bc021c894875" /><Relationship Type="http://schemas.openxmlformats.org/officeDocument/2006/relationships/notesMaster" Target="/ppt/notesMasters/notesMaster1.xml" Id="R9cb500ee56b34b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378d4bf77743b4" /><Relationship Type="http://schemas.openxmlformats.org/officeDocument/2006/relationships/notesMaster" Target="/ppt/notesMasters/notesMaster1.xml" Id="Rdc593f58022140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258382b2554151" /><Relationship Type="http://schemas.openxmlformats.org/officeDocument/2006/relationships/notesMaster" Target="/ppt/notesMasters/notesMaster1.xml" Id="R399f0051c41c43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054a276b364993" /><Relationship Type="http://schemas.openxmlformats.org/officeDocument/2006/relationships/notesMaster" Target="/ppt/notesMasters/notesMaster1.xml" Id="R51a1f40f565444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65d491f9ff4f9f" /><Relationship Type="http://schemas.openxmlformats.org/officeDocument/2006/relationships/notesMaster" Target="/ppt/notesMasters/notesMaster1.xml" Id="Re6aad16968494d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证据字段：monthly summary / source mapping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证据字段：June scene screenshot</a:t>
            </a:r>
          </a:p>
          <a:p xmlns:a="http://schemas.openxmlformats.org/drawingml/2006/main">
            <a:r>
              <a:t>示意建筑布局；当前视觉与参考站仍有差距，保留视觉验收记录。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证据字段：task.period / storage / ev / provenance / query_cost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证据字段：explanation.rows / saving_components</a:t>
            </a:r>
          </a:p>
          <a:p xmlns:a="http://schemas.openxmlformats.org/drawingml/2006/main">
            <a:r>
              <a:t>未计算企业利润或真实现场收益。采用相同服务、安全与初末库存条件。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证据字段：explanation.episodes[method=mpc]</a:t>
            </a:r>
          </a:p>
          <a:p xmlns:a="http://schemas.openxmlformats.org/drawingml/2006/main">
            <a:r>
              <a:t>本次六月轨迹没有修复事件，不将正常调度包装为异常修复。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证据字段：city_programs / city_improvements / fixed experiment manifest</a:t>
            </a:r>
          </a:p>
          <a:p xmlns:a="http://schemas.openxmlformats.org/drawingml/2006/main">
            <a:r>
              <a:t>框架实现和合成继承测试不等于实际RSI优势。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 manifest / result</a:t>
            </a:r>
          </a:p>
          <a:p xmlns:a="http://schemas.openxmlformats.org/drawingml/2006/main">
            <a:r>
              <a:t>其余四组未执行，不能把缺失数据画成零成本优势。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证据字段：improvements/4de87f7924b021d8/result / admission / holdout</a:t>
            </a:r>
          </a:p>
          <a:p xmlns:a="http://schemas.openxmlformats.org/drawingml/2006/main">
            <a:r>
              <a:t>停止条件在调用前冻结；没有伪造模型候选或进化动画。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证据字段：opportunity/7a6aa4e97c225bc8/result</a:t>
            </a:r>
          </a:p>
          <a:p xmlns:a="http://schemas.openxmlformats.org/drawingml/2006/main">
            <a:r>
              <a:t>新增11520 AC、4680 MILP；不使用验证或最终留出任务。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证据字段：public replay manifest / offline package</a:t>
            </a:r>
          </a:p>
          <a:p xmlns:a="http://schemas.openxmlformats.org/drawingml/2006/main">
            <a:r>
              <a:t>下一步研究需有明确工程难题和新的未揭示评价任务；本轮不宣称RSI优势。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b5860ddab342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a542c943094d5f" /><Relationship Type="http://schemas.openxmlformats.org/officeDocument/2006/relationships/slideLayout" Target="/ppt/slideLayouts/slideLayout1.xml" Id="R37977c17f96544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977c17f96544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dac9af95146a7" /><Relationship Type="http://schemas.openxmlformats.org/officeDocument/2006/relationships/notesSlide" Target="/ppt/notesSlides/notesSlide1.xml" Id="R9e6fde93568a40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7e74324cda4b54" /><Relationship Type="http://schemas.openxmlformats.org/officeDocument/2006/relationships/image" Target="/ppt/media/image.jpeg" Id="R2081866906294fed" /><Relationship Type="http://schemas.openxmlformats.org/officeDocument/2006/relationships/notesSlide" Target="/ppt/notesSlides/notesSlide2.xml" Id="Rd7ebb2ac5f2749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c9edec3d944f6" /><Relationship Type="http://schemas.openxmlformats.org/officeDocument/2006/relationships/notesSlide" Target="/ppt/notesSlides/notesSlide3.xml" Id="R1df4a6317c564f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c2803cb1fb4127" /><Relationship Type="http://schemas.openxmlformats.org/officeDocument/2006/relationships/notesSlide" Target="/ppt/notesSlides/notesSlide4.xml" Id="Ra1c76e8fe7f64c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250efb68a48a6" /><Relationship Type="http://schemas.openxmlformats.org/officeDocument/2006/relationships/notesSlide" Target="/ppt/notesSlides/notesSlide5.xml" Id="Re1b5c3ead05348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ad123def74099" /><Relationship Type="http://schemas.openxmlformats.org/officeDocument/2006/relationships/notesSlide" Target="/ppt/notesSlides/notesSlide6.xml" Id="Ra9ed238bb4224e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9b25b2ee5424d" /><Relationship Type="http://schemas.openxmlformats.org/officeDocument/2006/relationships/notesSlide" Target="/ppt/notesSlides/notesSlide7.xml" Id="R4d2fd8f984be4d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1b8ff19fc409c" /><Relationship Type="http://schemas.openxmlformats.org/officeDocument/2006/relationships/notesSlide" Target="/ppt/notesSlides/notesSlide8.xml" Id="R8acf029648814a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d53b41e1945e4" /><Relationship Type="http://schemas.openxmlformats.org/officeDocument/2006/relationships/notesSlide" Target="/ppt/notesSlides/notesSlide9.xml" Id="R8b5708283f7240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6fd1c664344bac" /><Relationship Type="http://schemas.openxmlformats.org/officeDocument/2006/relationships/image" Target="/ppt/media/image2.jpeg" Id="R1a6c540e70364577" /><Relationship Type="http://schemas.openxmlformats.org/officeDocument/2006/relationships/notesSlide" Target="/ppt/notesSlides/notesSlide10.xml" Id="Rb995ba59f0bf48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B16E6-B35F-42D1-97D8-FAC51931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光伏 · 储能 · 充电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200A78-D99B-4F2F-BB81-E68A0081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园区能源运营演示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ADDE1F-457B-45E8-8ECC-D1FCC2DE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BECF2-CEB5-444A-A07F-1CD29BBF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2026 年 6 月仿真场景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F801E1-00E7-43F7-BDA0-BF9E893E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连续整月回放、同口径方案比较、可追溯程序记录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06A13-90D7-491F-87FA-D5B2A2EF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386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https://jinyh.github.io/energy-campus/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DAF15-BE45-417B-BC16-20D42EEA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768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北京时间 UTC+08:00 · SimBench 德国历史曲线 · RSI 优势待验证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831B2-926C-46AE-992A-095DD6BB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F35AA-5ED6-440D-834F-0C05A583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304662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C8DE7-FF24-4836-91A3-E827F0D2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在线演示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E91F5-B43E-40B1-B637-40228B94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场景主导的运行回放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14C91-2D7E-498C-BEB5-56B0C98D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81866906294fed"/>
          <a:stretch xmlns:a="http://schemas.openxmlformats.org/drawingml/2006/main"/>
        </p:blipFill>
        <p:spPr>
          <a:xfrm xmlns:a="http://schemas.openxmlformats.org/drawingml/2006/main">
            <a:off x="2495910" y="1647825"/>
            <a:ext cx="7200181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2051E-E332-403B-98C6-E6570C3A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日期与方案共用播放时钟；日景、夜景、设备近景与线路图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15197-5FF9-44C6-A2DE-528BAC60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538160-CE8C-4C49-8ECD-ADF6D4E2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941434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B01845-76EF-47BD-8526-5F4A1CE7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数据口径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C15E0-B232-4617-A946-45002B21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月度场景与结算边界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853FE-F4CD-44BA-9BD1-3BCB1EE7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781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8477250"/>
              </a:tblGrid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项目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本次口径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月份与时间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2026 年 6 月；2,880 × 15 分钟；北京时间 UTC+08:00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数据来源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SimBench 2016 年同月及此前连续历史；保留时间映射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设备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100 kW / 400 kWh；8 个 22 kW 充电终端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连续状态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跨日保留 SOC 和车辆需求；初末库存均为 200 kWh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合同与成本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固定分时合同；购电费 − 上网收入 + 储能折损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计算账本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三基线 8,640 次 AC / 1,440 次 MILP；模型调用 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F397D-CA35-4759-A90D-3E7F4113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在线版只回放完整六月结果；本机版负责其他月份与重算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49941-EAE1-45D4-ADB5-FD1C3E2A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2EAAB-7FF0-4478-9D64-29AF8CCF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657907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9F32D-20C3-4583-AB3F-6C355E62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整月优势比较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C2809-78DB-48A0-AC5D-1C1C07DD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三种方案均合格，滚动优化节省 480.12 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4F623-B3BE-4098-8634-CD44AE4C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381250"/>
                <a:gridCol w="2381250"/>
                <a:gridCol w="1524000"/>
                <a:gridCol w="1714500"/>
              </a:tblGrid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方案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运行成本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比规则节省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节省比例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安全与履约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78,871.91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78,391.79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480.12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0.609%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情景滚动优化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78,533.90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338.01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0.429%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162E2E-CDAB-4F09-B406-6C275B85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52925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滚动优化的费用分解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10B86B-4BDC-4723-B10F-63FFE6BD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24425"/>
            <a:ext cx="10477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购电费差额 488.73 + 上网收入变化 -9.61</a:t>
            </a:r>
          </a:p>
          <a:p xmlns:a="http://schemas.openxmlformats.org/drawingml/2006/main">
            <a:pPr algn="l"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+ 折损差额 1.00 = 全月节省 480.12 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11176-2613-4BCA-9178-C9D5D18D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05500"/>
            <a:ext cx="10572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7826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属于工程调度收益；本月未观察到情景优化的可靠性优势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5D7ECF-A001-473B-8CC3-8BDC7C7C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B46E6-0F69-4201-AC01-5FFDCE41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099852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377F3-CFE7-4F7F-B66D-55553C19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机理讲解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2720-48EF-424E-BCF6-16EFD51E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调度如何改变同一时刻的充电行为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7F2FEF-CF69-4E09-BCBF-51E80A61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2428875"/>
                <a:gridCol w="2428875"/>
                <a:gridCol w="2381250"/>
              </a:tblGrid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06-01 08:30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充电请求 / 实际 kW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176 / 176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22 / 22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关口购电 kW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432.92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254.89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277.09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kW / 期初 kWh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F5C3D-E7C2-4A0B-ADB6-05C149CB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434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08:00 已发布计划 → 在终端功率与截止需求内分配充电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5BEC3-396D-4465-B1BB-F2308EF4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3872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滚动优化将部分需求留给后续时段，全月逐车截止履约仍通过。</a:t>
            </a:r>
          </a:p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该时段用于事后讲解；收益由整月账本确认。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5423A-CC07-41ED-9DE8-9737A7F7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2A45F-1898-4099-BE4A-01051806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520393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00A22-79E4-430A-A34A-FB544665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机制边界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2085BA-42A6-4B90-BFE3-7FC7CE0A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预测、调度与自我改进的职责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306949-9E98-4E79-B9B3-2E6B43AE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095875"/>
                <a:gridCol w="3762375"/>
              </a:tblGrid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层次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负责什么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当前证据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预测工具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朴素 / GBDT / 已揭示残差校正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各方法共享信息；固定电价为已知合同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工程调度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 SOC、车辆需求和设备权限安排动作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真实物理执行与同表计结算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处理程序 F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修改诊断、工具顺序、参数、复用与停止条件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受限表达式执行；行为差异检查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改进程序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修改证据选择、假设排序与验证预算分配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下一轮使用；需固定 G 组检验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ABEB7-9348-48EE-B348-BDAD4DB4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863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RSI 需要程序修改被后续任务继承，并产生可复核的收益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758C04-7868-45F7-9C64-13AEC947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8645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物理模型、安全标准、最终评价任务与总预算保持固定；本轮无 RL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16FC0B-3D93-404D-9E63-46736327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801BF-0513-432E-8520-BBAE7D07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972047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25FF98-8831-435F-8B9A-1D952E1B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冻结研究设计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D11989-B5AF-4872-BE23-4B029BCA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优势归因所需的五组比较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EF598B-24F7-4B88-BAC9-83FB5286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953000"/>
                <a:gridCol w="2476500"/>
              </a:tblGrid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组别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检验的因素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实际状态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自适应工程基线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常规纠偏与修复能解决多少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已执行，触发停止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固定流程＋共同历史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增加经验本身的收益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 F、固定 G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普通自动流程优化的收益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RSI：同时改进 F /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 对后续改进的贡献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每轮重置版本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跨轮继承是否必要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D20E67-C233-4AB7-A11D-DA0D8C31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3 轮：每轮 4 个开发＋2 个验证；另设 6 个最终留出任务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B8D08E-9A60-40AA-852F-418F4FCF4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9597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72 小时研究使用原始数据时间，与六月业务示范分别记账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9B1B20-1937-46B5-B9A5-9AC2F0D9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B5CD1-CA6D-4547-9931-3C96CD18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9801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D1A29A-919D-4088-816E-BD70F044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真实研究状态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C2326-7025-4B75-8AFC-EACFCADD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工程基线已解决可行任务，RSI 按规则停止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2E2F9-9DB7-4FDA-9FF3-1C95AA57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AD099-2733-4D3C-AC44-021ABFF8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开发任务：10 个直接合格；2 个为容量不足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8291EE-4405-4C8B-917E-F5076A99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09875"/>
            <a:ext cx="1057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冻结根版本后揭示 6 个留出任务：5 个合格，1 个资源不足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9F6553-A0DE-4383-963B-906AB33B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528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AE52C-B5B1-4708-B5B7-8BC33D02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957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rPr>
              <a:t>0 次新增模型调用 · 0 次程序晋升 · 未形成继承优势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DED99A-9474-407F-9EA4-C4E03CAA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0062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每个 72 小时任务保留 288 次必需 AC 检查。</a:t>
            </a:r>
          </a:p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额外搜索开销已为 0，当前任务不能证明 RSI 更高效。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B88E22-6D78-495C-8186-BCD446B2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AECE2-16BD-4080-A17A-9C3CDB31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121637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75000-A233-4849-BF32-F8CBDCAA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开发段操作筛查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D2FE3-1BB1-4A13-983E-0C1038ED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操作空间有效，但四项改动收益有限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C4E112-A703-40BB-B21A-3AD1E48B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571750"/>
                <a:gridCol w="2190750"/>
                <a:gridCol w="2095500"/>
              </a:tblGrid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配对节省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MILP 次数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 分钟重排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33.07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0.0418%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2,880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 小时重排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13.82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0.0175%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360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季节性朴素预测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2.87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0.0036%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25% 库存保护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−391.29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−0.4942%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26634-BBC2-4E71-A4C2-50E34DFF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1970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10 个可行开发任务；均有行为差异、均通过安全与服务检查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BC7AE-AE67-4C0D-A2AD-72A24F7F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87121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累计研究：16,704 次 AC / 5,976 次 MILP。未达到 1% 成本投入阈值。</a:t>
            </a:r>
          </a:p>
          <a:p xmlns:a="http://schemas.openxmlformats.org/drawingml/2006/main">
            <a:pPr algn="l"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重排次数属于常规求解开销；四项筛查不证明所有改动均无效。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416080-3F68-477B-8FB9-2CE01648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712F42-5320-468C-AB52-CFAB9D77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292409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3A0715-4DD2-44B7-84CC-DE605BB5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CF7467-852D-41D6-9936-DA2C91E9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在线回放与本机复算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8B518-4D27-4D9E-94C4-160CEF99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6c540e70364577"/>
          <a:stretch xmlns:a="http://schemas.openxmlformats.org/drawingml/2006/main"/>
        </p:blipFill>
        <p:spPr>
          <a:xfrm xmlns:a="http://schemas.openxmlformats.org/drawingml/2006/main">
            <a:off x="2495910" y="1647825"/>
            <a:ext cx="7200181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E97DC5-1E73-404E-9614-9CB5ACEB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在线：六月日期、三方案、费用分解与改进记录；本机：完整数据与重算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700125-ECB7-466F-92DD-8B5BE6B6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DA870-3A74-481E-AF60-A38E9F35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35322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2026-10-07T09:14:32.9700000Z</dcterms:created>
  <dcterms:modified xsi:type="dcterms:W3CDTF">2026-10-07T09:14:32.9700000Z</dcterms:modified>
</coreProperties>
</file>