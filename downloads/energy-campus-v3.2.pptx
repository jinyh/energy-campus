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b34ccc4f90432e" /><Relationship Type="http://schemas.openxmlformats.org/officeDocument/2006/relationships/extended-properties" Target="/docProps/app.xml" Id="Rd994e010787b441e" /><Relationship Type="http://schemas.openxmlformats.org/officeDocument/2006/relationships/officeDocument" Target="/ppt/presentation.xml" Id="R8d127f676cc045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342cf0a5bc48bb"/>
  </p:sldMasterIdLst>
  <p:notesMasterIdLst>
    <p:notesMasterId xmlns:r="http://schemas.openxmlformats.org/officeDocument/2006/relationships" r:id="Racaa9c0c0cb74519"/>
  </p:notesMasterIdLst>
  <p:sldIdLst>
    <p:sldId xmlns:r="http://schemas.openxmlformats.org/officeDocument/2006/relationships" id="256" r:id="Redd6db1e3cf1426a"/>
    <p:sldId xmlns:r="http://schemas.openxmlformats.org/officeDocument/2006/relationships" id="257" r:id="Re7652c63331542dd"/>
    <p:sldId xmlns:r="http://schemas.openxmlformats.org/officeDocument/2006/relationships" id="258" r:id="Rbbbe05cc1f454e3d"/>
    <p:sldId xmlns:r="http://schemas.openxmlformats.org/officeDocument/2006/relationships" id="259" r:id="R5e451add9f394896"/>
    <p:sldId xmlns:r="http://schemas.openxmlformats.org/officeDocument/2006/relationships" id="260" r:id="R89f0e9bb598e4cd7"/>
    <p:sldId xmlns:r="http://schemas.openxmlformats.org/officeDocument/2006/relationships" id="261" r:id="R3e7b7d9a380a481a"/>
    <p:sldId xmlns:r="http://schemas.openxmlformats.org/officeDocument/2006/relationships" id="262" r:id="R1f773828df474dbc"/>
    <p:sldId xmlns:r="http://schemas.openxmlformats.org/officeDocument/2006/relationships" id="263" r:id="R3cc3d4f65fe44899"/>
    <p:sldId xmlns:r="http://schemas.openxmlformats.org/officeDocument/2006/relationships" id="264" r:id="R1b5b841986d640af"/>
    <p:sldId xmlns:r="http://schemas.openxmlformats.org/officeDocument/2006/relationships" id="265" r:id="R0f33a47c48cd4168"/>
    <p:sldId xmlns:r="http://schemas.openxmlformats.org/officeDocument/2006/relationships" id="266" r:id="R5e76d5c0de744bb1"/>
    <p:sldId xmlns:r="http://schemas.openxmlformats.org/officeDocument/2006/relationships" id="267" r:id="R26b4db09360844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31fa2b4a424f41" /><Relationship Type="http://schemas.openxmlformats.org/officeDocument/2006/relationships/slideMaster" Target="/ppt/slideMasters/slideMaster1.xml" Id="R7f342cf0a5bc48bb" /><Relationship Type="http://schemas.openxmlformats.org/officeDocument/2006/relationships/notesMaster" Target="/ppt/notesMasters/notesMaster1.xml" Id="Racaa9c0c0cb74519" /><Relationship Type="http://schemas.openxmlformats.org/officeDocument/2006/relationships/presProps" Target="/ppt/presProps.xml" Id="Rd179e9b238064313" /><Relationship Type="http://schemas.openxmlformats.org/officeDocument/2006/relationships/tableStyles" Target="/ppt/tableStyles.xml" Id="R92942b12cc644d85" /><Relationship Type="http://schemas.openxmlformats.org/officeDocument/2006/relationships/slide" Target="/ppt/slides/slide1.xml" Id="Redd6db1e3cf1426a" /><Relationship Type="http://schemas.openxmlformats.org/officeDocument/2006/relationships/slide" Target="/ppt/slides/slide2.xml" Id="Re7652c63331542dd" /><Relationship Type="http://schemas.openxmlformats.org/officeDocument/2006/relationships/slide" Target="/ppt/slides/slide3.xml" Id="Rbbbe05cc1f454e3d" /><Relationship Type="http://schemas.openxmlformats.org/officeDocument/2006/relationships/slide" Target="/ppt/slides/slide4.xml" Id="R5e451add9f394896" /><Relationship Type="http://schemas.openxmlformats.org/officeDocument/2006/relationships/slide" Target="/ppt/slides/slide5.xml" Id="R89f0e9bb598e4cd7" /><Relationship Type="http://schemas.openxmlformats.org/officeDocument/2006/relationships/slide" Target="/ppt/slides/slide6.xml" Id="R3e7b7d9a380a481a" /><Relationship Type="http://schemas.openxmlformats.org/officeDocument/2006/relationships/slide" Target="/ppt/slides/slide7.xml" Id="R1f773828df474dbc" /><Relationship Type="http://schemas.openxmlformats.org/officeDocument/2006/relationships/slide" Target="/ppt/slides/slide8.xml" Id="R3cc3d4f65fe44899" /><Relationship Type="http://schemas.openxmlformats.org/officeDocument/2006/relationships/slide" Target="/ppt/slides/slide9.xml" Id="R1b5b841986d640af" /><Relationship Type="http://schemas.openxmlformats.org/officeDocument/2006/relationships/slide" Target="/ppt/slides/slide10.xml" Id="R0f33a47c48cd4168" /><Relationship Type="http://schemas.openxmlformats.org/officeDocument/2006/relationships/slide" Target="/ppt/slides/slide11.xml" Id="R5e76d5c0de744bb1" /><Relationship Type="http://schemas.openxmlformats.org/officeDocument/2006/relationships/slide" Target="/ppt/slides/slide12.xml" Id="R26b4db09360844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3419180a6049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acce7fc8f1413c" /><Relationship Type="http://schemas.openxmlformats.org/officeDocument/2006/relationships/notesMaster" Target="/ppt/notesMasters/notesMaster1.xml" Id="R8f1b6deffcc946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e3e5f9617a4c42" /><Relationship Type="http://schemas.openxmlformats.org/officeDocument/2006/relationships/notesMaster" Target="/ppt/notesMasters/notesMaster1.xml" Id="R4bf3498f243741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9ba8e521c64db1" /><Relationship Type="http://schemas.openxmlformats.org/officeDocument/2006/relationships/notesMaster" Target="/ppt/notesMasters/notesMaster1.xml" Id="R19e861827b5844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23ec32b2cb4983" /><Relationship Type="http://schemas.openxmlformats.org/officeDocument/2006/relationships/notesMaster" Target="/ppt/notesMasters/notesMaster1.xml" Id="Rf9cd8518ce4740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7c75d51457463b" /><Relationship Type="http://schemas.openxmlformats.org/officeDocument/2006/relationships/notesMaster" Target="/ppt/notesMasters/notesMaster1.xml" Id="Rda0731d78eb445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34653addc44419" /><Relationship Type="http://schemas.openxmlformats.org/officeDocument/2006/relationships/notesMaster" Target="/ppt/notesMasters/notesMaster1.xml" Id="R086c590caa2341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96675985d94f5a" /><Relationship Type="http://schemas.openxmlformats.org/officeDocument/2006/relationships/notesMaster" Target="/ppt/notesMasters/notesMaster1.xml" Id="Rd72ba19f870241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4965afee5344c4" /><Relationship Type="http://schemas.openxmlformats.org/officeDocument/2006/relationships/notesMaster" Target="/ppt/notesMasters/notesMaster1.xml" Id="R1555a2a6967240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b0c163b8d24d5b" /><Relationship Type="http://schemas.openxmlformats.org/officeDocument/2006/relationships/notesMaster" Target="/ppt/notesMasters/notesMaster1.xml" Id="R50a6a77ff14c4d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e8574059c24d22" /><Relationship Type="http://schemas.openxmlformats.org/officeDocument/2006/relationships/notesMaster" Target="/ppt/notesMasters/notesMaster1.xml" Id="R27595709f3b640c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7ac5c4f96ce4f1d" /><Relationship Type="http://schemas.openxmlformats.org/officeDocument/2006/relationships/notesMaster" Target="/ppt/notesMasters/notesMaster1.xml" Id="R54702b5c19ac462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5f5c091d0a141cc" /><Relationship Type="http://schemas.openxmlformats.org/officeDocument/2006/relationships/notesMaster" Target="/ppt/notesMasters/notesMaster1.xml" Id="Rce8227aaceeb45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证据字段：monthly summary / source mapping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当前界面截图：validation/visual-recovery-2026-10-07/day-overview-1366-final.png SHA256 12786192507f120fd156691ecd4f11441c974e036ae3d51a042ada3cd171e8bf。仅更新界面截图；原有真实成本与研究停止结论保持。视觉仍未达到参考站标准。SimBench 德国历史来源，非中国园区实测。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证据字段：task.period / storage / ev / provenance / query_cost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证据字段：explanation.rows / saving_components</a:t>
            </a:r>
          </a:p>
          <a:p xmlns:a="http://schemas.openxmlformats.org/drawingml/2006/main">
            <a:r>
              <a:t>未计算企业利润或真实现场收益。采用相同服务、安全与初末库存条件。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证据字段：explanation.episodes[method=mpc]</a:t>
            </a:r>
          </a:p>
          <a:p xmlns:a="http://schemas.openxmlformats.org/drawingml/2006/main">
            <a:r>
              <a:t>本次六月轨迹没有修复事件，不将正常调度包装为异常修复。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证据字段：city_programs / city_improvements / fixed experiment manifest</a:t>
            </a:r>
          </a:p>
          <a:p xmlns:a="http://schemas.openxmlformats.org/drawingml/2006/main">
            <a:r>
              <a:t>框架实现和合成继承测试不等于实际RSI优势。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  <a:p xmlns:a="http://schemas.openxmlformats.org/drawingml/2006/main">
            <a:r>
              <a:t>当前固定在线工程 F：cf6c589c3f461ec4，触发时刻 2026-06-02 08:00 Asia/Shanghai。MPC 108174.15 元；情景 MPC 108295.91 元，均合格。每方法 2880 AC / 2784 MILP。该程序由人工固定，不包含候选晋升、G 演化或继承优势。原研究停止与原工具对照不变；不能将不同程序与情景工具的费用差归因为 RSI。证据 validation/live-f-2026-10-08/acceptance.json SHA256 a026156041af5b7b22663b18c9fd58e4979a2cef80c6ef4113bba78f2376b8cb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 manifest / result</a:t>
            </a:r>
          </a:p>
          <a:p xmlns:a="http://schemas.openxmlformats.org/drawingml/2006/main">
            <a:r>
              <a:t>其余四组未执行，不能把缺失数据画成零成本优势。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证据字段：improvements/4de87f7924b021d8/result / admission / holdout</a:t>
            </a:r>
          </a:p>
          <a:p xmlns:a="http://schemas.openxmlformats.org/drawingml/2006/main">
            <a:r>
              <a:t>停止条件在调用前冻结；没有伪造模型候选或进化动画。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证据字段：opportunity/7a6aa4e97c225bc8/result</a:t>
            </a:r>
          </a:p>
          <a:p xmlns:a="http://schemas.openxmlformats.org/drawingml/2006/main">
            <a:r>
              <a:t>新增11520 AC、4680 MILP；不使用验证或最终留出任务。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证据字段：persistent-shift acceptance / forecast_diagnostics / perturbation</a:t>
            </a:r>
          </a:p>
          <a:p xmlns:a="http://schemas.openxmlformats.org/drawingml/2006/main">
            <a:r>
              <a:t>原第2日扰动和原72小时研究保持不变。诊断只使用目标时刻严格早于当前决策的样本。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  <a:p xmlns:a="http://schemas.openxmlformats.org/drawingml/2006/main">
            <a:r>
              <a:t>当前固定在线工程 F：cf6c589c3f461ec4，触发时刻 2026-06-02 08:00 Asia/Shanghai。MPC 108174.15 元；情景 MPC 108295.91 元，均合格。每方法 2880 AC / 2784 MILP。该程序由人工固定，不包含候选晋升、G 演化或继承优势。原研究停止与原工具对照不变；不能将不同程序与情景工具的费用差归因为 RSI。证据 validation/live-f-2026-10-08/acceptance.json SHA256 a026156041af5b7b22663b18c9fd58e4979a2cef80c6ef4113bba78f2376b8cb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证据字段：persistent-shift comparison / business_query_ledger</a:t>
            </a:r>
          </a:p>
          <a:p xmlns:a="http://schemas.openxmlformats.org/drawingml/2006/main">
            <a:r>
              <a:t>这组对照不包含F/G程序晋升或跨轮继承，不能归因为RSI。成本差仅在双方均合格时报告。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当前界面截图：validation/live-f-2026-10-08/charging-eight-chart-1366-final.png SHA256 a60ded41a7dd178a363df0b0cb2d72ec1b1ba007897f6f5bfa6a6e4c050e53d9。在线工程 F 月度核验已完成；原有真实成本与研究停止结论保持。视觉仍未达到参考站标准。SimBench 德国历史来源，非中国园区实测。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2f2545d1824d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5700b5a4094959" /><Relationship Type="http://schemas.openxmlformats.org/officeDocument/2006/relationships/slideLayout" Target="/ppt/slideLayouts/slideLayout1.xml" Id="Re26d2e01fd4742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6d2e01fd4742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b6616dda941d7" /><Relationship Type="http://schemas.openxmlformats.org/officeDocument/2006/relationships/notesSlide" Target="/ppt/notesSlides/notesSlide1.xml" Id="R42391ffc5ab946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a22a883324d90" /><Relationship Type="http://schemas.openxmlformats.org/officeDocument/2006/relationships/image" Target="/ppt/media/image.jpeg" Id="R089688ecdd4844a8" /><Relationship Type="http://schemas.openxmlformats.org/officeDocument/2006/relationships/notesSlide" Target="/ppt/notesSlides/notesSlide2.xml" Id="Ra25dcdbba1ac4a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fa0f6219f74ca0" /><Relationship Type="http://schemas.openxmlformats.org/officeDocument/2006/relationships/notesSlide" Target="/ppt/notesSlides/notesSlide3.xml" Id="R0844062673d240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460dd07bc45bf" /><Relationship Type="http://schemas.openxmlformats.org/officeDocument/2006/relationships/notesSlide" Target="/ppt/notesSlides/notesSlide4.xml" Id="Rdcc537d57a0e43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318b987ab4c72" /><Relationship Type="http://schemas.openxmlformats.org/officeDocument/2006/relationships/notesSlide" Target="/ppt/notesSlides/notesSlide5.xml" Id="R107a8fdc9afe4e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4b094981243de" /><Relationship Type="http://schemas.openxmlformats.org/officeDocument/2006/relationships/notesSlide" Target="/ppt/notesSlides/notesSlide6.xml" Id="Re76a5017996e4a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fae3c05394663" /><Relationship Type="http://schemas.openxmlformats.org/officeDocument/2006/relationships/notesSlide" Target="/ppt/notesSlides/notesSlide7.xml" Id="R037946b72bde4f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ea40a59f04c28" /><Relationship Type="http://schemas.openxmlformats.org/officeDocument/2006/relationships/notesSlide" Target="/ppt/notesSlides/notesSlide8.xml" Id="R7e3aae5573be42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e9012aa6d4242" /><Relationship Type="http://schemas.openxmlformats.org/officeDocument/2006/relationships/notesSlide" Target="/ppt/notesSlides/notesSlide9.xml" Id="R4aafec15ac1b4e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44b6b213564d5a" /><Relationship Type="http://schemas.openxmlformats.org/officeDocument/2006/relationships/notesSlide" Target="/ppt/notesSlides/notesSlide10.xml" Id="R4aff26f2089549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0414ba8b744f9" /><Relationship Type="http://schemas.openxmlformats.org/officeDocument/2006/relationships/notesSlide" Target="/ppt/notesSlides/notesSlide11.xml" Id="Rfaea3ee7b2c44f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df97122024ba5" /><Relationship Type="http://schemas.openxmlformats.org/officeDocument/2006/relationships/image" Target="/ppt/media/image2.jpeg" Id="Rb0d9d23d746d4287" /><Relationship Type="http://schemas.openxmlformats.org/officeDocument/2006/relationships/notesSlide" Target="/ppt/notesSlides/notesSlide12.xml" Id="R60a311fe6fad41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64E90-6E39-4226-876A-FA0FCD1A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光伏 · 储能 · 充电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A6855A-3C7C-4DAA-888C-B71B844B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园区能源运营演示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F91EE-CF4F-4CC5-9123-C7A52701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D54F3-6919-4D6A-BBBB-69A02D48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2026 年 6 月仿真场景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9472E-501C-4A29-9626-68CCC9CB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连续整月回放、在线工程修复、可追溯程序记录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B8952-4B37-4F18-9ADF-B3B01B85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386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https://jinyh.github.io/energy-campus/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75C50E-D6EE-4F4C-BE7D-28E6B878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768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北京时间 UTC+08:00 · SimBench 德国历史曲线 · RSI 优势待验证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20187-8556-4931-9E79-F7F6FF44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9713E6-F046-45C1-A2F9-5D47E92B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447091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C10BC-B9B3-46E9-A3C1-E0A42C5B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在线演示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72CA2-E0E5-4CF7-98E6-F8FE2E7B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场景主导的运行回放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9E131-C929-4F3F-8E61-F15FCC50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07D5F3-FC6D-4D11-97B2-81D124802A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688ecdd4844a8"/>
          <a:srcRect xmlns:a="http://schemas.openxmlformats.org/drawingml/2006/main" l="0" t="2306" r="0" b="23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5910" y="1647825"/>
            <a:ext cx="7200181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E78EB-9B15-42D9-B7FD-ADEDB7F0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日期与方案共用播放时钟；日景、夜景、设备近景与线路图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DD71AB-522C-4FF8-B444-312C1063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BDC33-B259-40C3-9E75-05317CDF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072267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F57B5-474E-4449-9975-48D31B51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数据口径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DA2D23-AFA3-470B-894F-8B3DC492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月度场景与结算边界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9068A1-1E43-498A-B7DF-1A9B224F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1F0EF7-D9B6-406F-BA4C-4EFF488AC487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781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8477250"/>
              </a:tblGrid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项目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本次口径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月份与时间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2026 年 6 月；2,880 × 15 分钟；北京时间 UTC+08:00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数据来源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SimBench 2016 年同月及此前连续历史；保留时间映射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设备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100 kW / 400 kWh；8 个 22 kW 充电终端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连续状态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跨日保留 SOC 和车辆需求；初末库存均为 200 kWh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合同与成本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固定分时合同；购电费 − 上网收入 + 储能折损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计算账本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三基线 8,640 次 AC / 1,440 次 MILP；模型调用 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4906E-5E75-424B-8882-8B14647A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在线版提供六月日常与持续偏移回放，本机版负责参数与导入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14B74-F5AC-40C4-B184-54141953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65B8FA-5AE0-4820-8826-F5E2033F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712546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280B3A-1793-4C78-B87A-DAECE533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整月优势比较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7515-BFAF-4B78-BEBD-34904F22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三种方案均合格，滚动优化节省 480.12 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D9BF5-FB15-4278-AD9B-5394240B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FD8593-AAE5-4AF9-A54D-8AD97A509992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381250"/>
                <a:gridCol w="2381250"/>
                <a:gridCol w="1524000"/>
                <a:gridCol w="1714500"/>
              </a:tblGrid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方案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运行成本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比规则节省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节省比例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安全与履约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78,871.91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78,391.79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480.12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0.609%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情景滚动优化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78,533.90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338.01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0.429%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7373D-6601-4D64-88B3-ED537AA1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52925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滚动优化的费用分解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A7DB8-95E8-4E42-AF89-9BDD390F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24425"/>
            <a:ext cx="10477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购电费差额 488.73 + 上网收入变化 -9.61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+ 折损差额 1.00 = 全月节省 480.12 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55766-D7DA-4799-93D2-7B3D1D00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05500"/>
            <a:ext cx="10572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78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属于工程调度收益；本月未观察到情景优化的可靠性优势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C963F7-8FCA-4A4D-A6D6-065A9A6E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38614-A9BF-4EA6-95BC-5C534C84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49773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E7529-CB14-4BCF-8B6F-6365E600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机理讲解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40EBF-7A23-48DC-B96A-DCA01C2E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调度如何改变同一时刻的充电行为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6BA03-E8EE-4803-9187-8E360619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2D375-6B8E-4659-80C7-A539B805D743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2428875"/>
                <a:gridCol w="2428875"/>
                <a:gridCol w="2381250"/>
              </a:tblGrid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06-01 08:30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充电请求 / 实际 kW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176 / 176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22 / 22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关口购电 kW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432.92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254.89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277.09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kW / 期初 kWh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AC956-06C3-4316-B14A-8D9C41E6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434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08:00 已发布计划 → 在终端功率与截止需求内分配充电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116E41-289D-40C5-B1BB-63C6315C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3872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滚动优化将部分需求留给后续时段，全月逐车截止履约仍通过。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该时段用于事后讲解；收益由整月账本确认。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1B48F-DEA7-4550-AE54-BF798C12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1D4F0-06C0-451F-A7DC-0E3F0152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582171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75964-83E7-45AB-B7C9-2F005CD1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机制边界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80D2F-60F4-4E8C-A26B-4E661E60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预测、调度与自我改进的职责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54B03-1BC7-4BFD-B85C-B708F255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B85A44-64DC-4541-9788-06AA837E3008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095875"/>
                <a:gridCol w="3762375"/>
              </a:tblGrid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层次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负责什么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当前证据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预测工具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朴素 / GBDT / 已揭示残差校正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共享预测信息，合同电价已知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工程调度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 SOC、车辆需求和设备权限安排动作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真实物理执行与同表计结算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处理程序 F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修改诊断、工具顺序、参数、复用与停止条件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在线工程 F 已执行；程序固定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改进程序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修改证据选择、假设排序与验证预算分配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继承机制已实现，实际晋升 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2F1F9-1DCC-44AB-BE3E-4558292B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863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RSI 需要程序修改被后续任务继承，并产生可复核的收益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D0ADA8-D4D1-40E0-ACA9-FA9017BB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8645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物理模型、安全标准、最终评价任务与总预算保持固定；本轮无 RL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5BB71-A564-48F3-BC41-57D0A2ED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2D4CD-1DE8-4CE5-88E5-553B15B9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256854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B6E8A-34BA-46F8-B20F-24A13FBC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冻结研究设计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52F6D-AC76-49D4-B45D-87D1EEE9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优势归因所需的五组比较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A6BB0-8F1F-4844-A206-384FA8D4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619B90-3ED5-413E-B84B-395EF07CCC9D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953000"/>
                <a:gridCol w="2476500"/>
              </a:tblGrid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组别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检验的因素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实际状态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自适应工程基线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常规纠偏与修复能解决多少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已执行，触发停止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固定流程＋共同历史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增加经验本身的收益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 F、固定 G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普通自动流程优化的收益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RSI：同时改进 F /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 对后续改进的贡献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每轮重置版本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跨轮继承是否必要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954F1-CC4B-4ED1-BBF5-72986268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3 轮：每轮 4 个开发＋2 个验证；另设 6 个最终留出任务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94B27-0248-4313-9181-0E3ED283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9597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72 小时研究使用原始数据时间，与六月业务示范分别记账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9E9C6-088B-4A65-B41D-0BCB3E2F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AF6FAD-67A3-42BA-A780-25F4AAF0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767852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96733-C5D8-4103-8A5F-72B89F68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真实研究状态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D4FED-BDC0-4DE1-BFAD-F7B16B53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工程基线已解决可行任务，RSI 按规则停止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3E09E-39CC-4DCB-96E0-E6037592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671A24-3282-45CB-818A-1E087277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开发任务：10 个直接合格；2 个为容量不足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29F7AF-AB1B-4D38-A990-08AAB58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09875"/>
            <a:ext cx="1057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冻结根版本后揭示 6 个留出任务：5 个合格，1 个资源不足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58C83-805B-4A86-980A-E82FFF18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528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66F0FA-5F1A-4602-9057-47D1BA4B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957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rPr>
              <a:t>0 次新增模型调用 · 0 次程序晋升 · 未形成继承优势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BC3AE-6021-46F0-A580-97187A7B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0062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每个 72 小时任务保留 288 次必需 AC 检查。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额外搜索开销已为 0，当前任务不能证明 RSI 更高效。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D0C9D7-603E-4093-BFF5-2B14D4DE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B88F5-C022-46A7-B7DD-7F654955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581430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B27741-2A90-485B-8D1E-15F207F1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开发段操作筛查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AE1C7-78B1-4F32-9D0C-E5D72B2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操作空间有效，但四项改动收益有限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2B6715-E1BF-4213-ACFD-94926660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2D058B-B5BB-4EF4-8E01-46B1BD460E04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571750"/>
                <a:gridCol w="2190750"/>
                <a:gridCol w="2095500"/>
              </a:tblGrid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配对节省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MILP 次数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 分钟重排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33.07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0.0418%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2,880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 小时重排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13.82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0.0175%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360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季节性朴素预测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2.87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0.0036%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25% 库存保护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−391.29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−0.4942%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2631D-D378-43E9-B131-1018C393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1970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10 个可行开发任务；均有行为差异、均通过安全与服务检查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B3C5F-795F-4E05-8D33-7C6839FD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871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累计研究：16,704 次 AC / 5,976 次 MILP。未达到 1% 成本投入阈值。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重排次数属于常规求解开销；四项筛查不证明所有改动均无效。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D51F2-4BD7-4DF5-8207-EFCF1C64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A27FA-01FD-464A-B157-3AAD9827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560940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D00FA-EB13-40A8-A958-0C76BA32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新增月度业务案例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E5DA2-FDA8-4E8C-9C96-89C198A6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持续供需偏移的逐时证据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CAB80-BD17-4F6F-8A88-F796C2D1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76386-5237-4094-91D9-6FB7AC95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第 2 日起至月末：负荷增加 28%，17–21 时增加 40%，光伏降至 55%</a:t>
            </a:r>
          </a:p>
        </p:txBody>
      </p:sp>
      <p:graphicFrame>
        <p:nvGraphicFrame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F639D-3BA2-40B5-B21C-6843C19DF5A4}"/>
              </a:ext>
            </a:extLst>
          </p:cNvPr>
          <p:cNvGraphicFramePr/>
          <p:nvPr/>
        </p:nvGraphicFramePr>
        <p:xfrm>
          <a:off xmlns:a="http://schemas.openxmlformats.org/drawingml/2006/main" x="666750" y="2667000"/>
          <a:ext xmlns:a="http://schemas.openxmlformats.org/drawingml/2006/main" cx="10858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620000"/>
              </a:tblGrid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诊断时刻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北京时间 06-02 08:00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已揭示证据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124 条一小时提前量预测，最近七天窗口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平均残差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20.23 kW，相对偏差 11.19%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同号比例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75.00%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最新实值与发布值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384.93 kW / 143.85 kW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416B70-0704-4662-8EFE-DADFA6F7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911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rPr>
              <a:t>规则方案累计过载 30 分钟，修复未完全解决，判为不合格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FA187-2715-4C27-8251-5FCC5D6C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在线 F 在同一时刻切换校正并加密重排；动态降额未实现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A0DE4-596C-47FB-B66E-8E185772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299A1-35B3-4680-A2E1-4100C9AC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135740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C5E31F-D58F-4879-A6D8-24C9F8A0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共同工程工具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BD60A-E584-4C0B-A84A-4AEFE2C8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滚动预测校正的实际经营比较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0C84B-C4D7-423A-948C-520E2576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F3547E-6A5B-4307-A46C-E9C97198596A}"/>
              </a:ext>
            </a:extLst>
          </p:cNvPr>
          <p:cNvGraphicFramePr/>
          <p:nvPr/>
        </p:nvGraphicFramePr>
        <p:xfrm>
          <a:off xmlns:a="http://schemas.openxmlformats.org/drawingml/2006/main" x="666750" y="1905000"/>
          <a:ext xmlns:a="http://schemas.openxmlformats.org/drawingml/2006/main" cx="108585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2333625"/>
                <a:gridCol w="2333625"/>
                <a:gridCol w="2095500"/>
                <a:gridCol w="1619250"/>
              </a:tblGrid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调度方案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原始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校正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108,634.25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108,634.25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未同时合格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不可比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确定性 MPC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108,171.52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108,172.98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-1.46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-0.001%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 MPC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108,415.78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108,261.14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154.65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0.143%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320CE1-16A8-4E94-A2CD-A2D89A9E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386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同一整月输入、合同与源码，仅改变各方案共享的预测工具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464DB8-9A39-4418-A998-41DDBD78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校正从本次运行开始参与优化，按发布时间使用已揭示残差。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规则调度不读取未来预测，安全检查保持完整。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235ED-784E-4497-A1A0-0A1B381F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977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业务账本单列：8645 AC / 1440 MILP，8645 AC / 1440 MILP。模型调用 0。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BCEB8-24E7-4A65-86C2-02A59481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1D7B0-5016-402E-822A-2352A9E0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518366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EA2AD-BC4F-4825-8DD7-7CE7E456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3BD06-D118-4185-AECA-EEF33CD4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在线回放与本机复算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A3937-D44B-4254-84E5-03E8BBDE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E3259-ECD1-4BDC-AF2E-BE91D6FAD5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d9d23d746d428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5910" y="1647825"/>
            <a:ext cx="7200181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632C2-4B75-421A-B48E-95059E97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在线：六月回放、逐时工程 F 与异常证据；本机：参数、导入与复算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8A10E-A43B-4C68-87F3-5406E29B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7D02E-BDEA-45B4-8C4D-3A723759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073126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2026-10-08T01:52:05.0240000Z</dcterms:created>
  <dcterms:modified xsi:type="dcterms:W3CDTF">2026-10-08T01:52:05.0240000Z</dcterms:modified>
</coreProperties>
</file>