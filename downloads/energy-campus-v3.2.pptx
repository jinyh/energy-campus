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a347b4ac7145b5" /><Relationship Type="http://schemas.openxmlformats.org/officeDocument/2006/relationships/extended-properties" Target="/docProps/app.xml" Id="Rc0850d2dfaf94d58" /><Relationship Type="http://schemas.openxmlformats.org/officeDocument/2006/relationships/officeDocument" Target="/ppt/presentation.xml" Id="Ra20d331e7ee440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ce06397c5e44d1"/>
  </p:sldMasterIdLst>
  <p:notesMasterIdLst>
    <p:notesMasterId xmlns:r="http://schemas.openxmlformats.org/officeDocument/2006/relationships" r:id="R51b98a70e84444ed"/>
  </p:notesMasterIdLst>
  <p:sldIdLst>
    <p:sldId xmlns:r="http://schemas.openxmlformats.org/officeDocument/2006/relationships" id="256" r:id="R196234dc87ed4f23"/>
    <p:sldId xmlns:r="http://schemas.openxmlformats.org/officeDocument/2006/relationships" id="257" r:id="Re925a38428d249f1"/>
    <p:sldId xmlns:r="http://schemas.openxmlformats.org/officeDocument/2006/relationships" id="258" r:id="R396cadd5e0eb4698"/>
    <p:sldId xmlns:r="http://schemas.openxmlformats.org/officeDocument/2006/relationships" id="259" r:id="Rc04b00c4cc684bda"/>
    <p:sldId xmlns:r="http://schemas.openxmlformats.org/officeDocument/2006/relationships" id="260" r:id="Ra6179f84bc6246af"/>
    <p:sldId xmlns:r="http://schemas.openxmlformats.org/officeDocument/2006/relationships" id="261" r:id="Rd52ba8ce87224daf"/>
    <p:sldId xmlns:r="http://schemas.openxmlformats.org/officeDocument/2006/relationships" id="262" r:id="R536d132b983442b9"/>
    <p:sldId xmlns:r="http://schemas.openxmlformats.org/officeDocument/2006/relationships" id="263" r:id="Rabf95570187a46f9"/>
    <p:sldId xmlns:r="http://schemas.openxmlformats.org/officeDocument/2006/relationships" id="264" r:id="R1ffa9284acc04f40"/>
    <p:sldId xmlns:r="http://schemas.openxmlformats.org/officeDocument/2006/relationships" id="265" r:id="Re852fd5ddb174e8f"/>
    <p:sldId xmlns:r="http://schemas.openxmlformats.org/officeDocument/2006/relationships" id="266" r:id="R504308d9f3d14cdd"/>
    <p:sldId xmlns:r="http://schemas.openxmlformats.org/officeDocument/2006/relationships" id="267" r:id="R1c4bc5b528e34b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834f14c2ee449c" /><Relationship Type="http://schemas.openxmlformats.org/officeDocument/2006/relationships/slideMaster" Target="/ppt/slideMasters/slideMaster1.xml" Id="Rc8ce06397c5e44d1" /><Relationship Type="http://schemas.openxmlformats.org/officeDocument/2006/relationships/notesMaster" Target="/ppt/notesMasters/notesMaster1.xml" Id="R51b98a70e84444ed" /><Relationship Type="http://schemas.openxmlformats.org/officeDocument/2006/relationships/presProps" Target="/ppt/presProps.xml" Id="R719f1d937796424e" /><Relationship Type="http://schemas.openxmlformats.org/officeDocument/2006/relationships/tableStyles" Target="/ppt/tableStyles.xml" Id="R13d71ca68c564adb" /><Relationship Type="http://schemas.openxmlformats.org/officeDocument/2006/relationships/slide" Target="/ppt/slides/slide1.xml" Id="R196234dc87ed4f23" /><Relationship Type="http://schemas.openxmlformats.org/officeDocument/2006/relationships/slide" Target="/ppt/slides/slide2.xml" Id="Re925a38428d249f1" /><Relationship Type="http://schemas.openxmlformats.org/officeDocument/2006/relationships/slide" Target="/ppt/slides/slide3.xml" Id="R396cadd5e0eb4698" /><Relationship Type="http://schemas.openxmlformats.org/officeDocument/2006/relationships/slide" Target="/ppt/slides/slide4.xml" Id="Rc04b00c4cc684bda" /><Relationship Type="http://schemas.openxmlformats.org/officeDocument/2006/relationships/slide" Target="/ppt/slides/slide5.xml" Id="Ra6179f84bc6246af" /><Relationship Type="http://schemas.openxmlformats.org/officeDocument/2006/relationships/slide" Target="/ppt/slides/slide6.xml" Id="Rd52ba8ce87224daf" /><Relationship Type="http://schemas.openxmlformats.org/officeDocument/2006/relationships/slide" Target="/ppt/slides/slide7.xml" Id="R536d132b983442b9" /><Relationship Type="http://schemas.openxmlformats.org/officeDocument/2006/relationships/slide" Target="/ppt/slides/slide8.xml" Id="Rabf95570187a46f9" /><Relationship Type="http://schemas.openxmlformats.org/officeDocument/2006/relationships/slide" Target="/ppt/slides/slide9.xml" Id="R1ffa9284acc04f40" /><Relationship Type="http://schemas.openxmlformats.org/officeDocument/2006/relationships/slide" Target="/ppt/slides/slide10.xml" Id="Re852fd5ddb174e8f" /><Relationship Type="http://schemas.openxmlformats.org/officeDocument/2006/relationships/slide" Target="/ppt/slides/slide11.xml" Id="R504308d9f3d14cdd" /><Relationship Type="http://schemas.openxmlformats.org/officeDocument/2006/relationships/slide" Target="/ppt/slides/slide12.xml" Id="R1c4bc5b528e34b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e6e656e1c94c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0f0ef1c167456b" /><Relationship Type="http://schemas.openxmlformats.org/officeDocument/2006/relationships/notesMaster" Target="/ppt/notesMasters/notesMaster1.xml" Id="Rceb4dfdc251d41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1813f263a94959" /><Relationship Type="http://schemas.openxmlformats.org/officeDocument/2006/relationships/notesMaster" Target="/ppt/notesMasters/notesMaster1.xml" Id="R42771c5d6e4444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21070ba78445ad" /><Relationship Type="http://schemas.openxmlformats.org/officeDocument/2006/relationships/notesMaster" Target="/ppt/notesMasters/notesMaster1.xml" Id="Rba0150c230a841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984015bbbd4c42" /><Relationship Type="http://schemas.openxmlformats.org/officeDocument/2006/relationships/notesMaster" Target="/ppt/notesMasters/notesMaster1.xml" Id="R27b8112e5b294e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d084558fb9439a" /><Relationship Type="http://schemas.openxmlformats.org/officeDocument/2006/relationships/notesMaster" Target="/ppt/notesMasters/notesMaster1.xml" Id="R79182ecd394449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09b010922e466c" /><Relationship Type="http://schemas.openxmlformats.org/officeDocument/2006/relationships/notesMaster" Target="/ppt/notesMasters/notesMaster1.xml" Id="Rb94f5965d4f048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5c24a07b374762" /><Relationship Type="http://schemas.openxmlformats.org/officeDocument/2006/relationships/notesMaster" Target="/ppt/notesMasters/notesMaster1.xml" Id="R26848e7dec754c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24b8e84a3d4380" /><Relationship Type="http://schemas.openxmlformats.org/officeDocument/2006/relationships/notesMaster" Target="/ppt/notesMasters/notesMaster1.xml" Id="Rc41bc60e3fd742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0348ef4627f4c6c" /><Relationship Type="http://schemas.openxmlformats.org/officeDocument/2006/relationships/notesMaster" Target="/ppt/notesMasters/notesMaster1.xml" Id="R0212aba0202543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3e7d072cb624b8f" /><Relationship Type="http://schemas.openxmlformats.org/officeDocument/2006/relationships/notesMaster" Target="/ppt/notesMasters/notesMaster1.xml" Id="Rf447d470a20f409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8a74fa8e77f4cc0" /><Relationship Type="http://schemas.openxmlformats.org/officeDocument/2006/relationships/notesMaster" Target="/ppt/notesMasters/notesMaster1.xml" Id="Ra18e83be65ba4b9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97e6dad24494ec2" /><Relationship Type="http://schemas.openxmlformats.org/officeDocument/2006/relationships/notesMaster" Target="/ppt/notesMasters/notesMaster1.xml" Id="R024e8d06ebd54d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证据字段：monthly summary / source mapping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results/v32/jobs/310912a4ad924de6-summary.json SHA256 7274d16c5508057ac956a9056930a3b4b4e9fab4f664c1c707be827a50ca8ac1</a:t>
            </a:r>
          </a:p>
          <a:p xmlns:a="http://schemas.openxmlformats.org/drawingml/2006/main">
            <a:r>
              <a:t>results/v32/improvements/4de87f7924b021d8/result.json SHA256 3d7e1bfbabeb55fd41f0c0696eaaca947950262e877b83d133505920d06671f3</a:t>
            </a:r>
          </a:p>
          <a:p xmlns:a="http://schemas.openxmlformats.org/drawingml/2006/main">
            <a:r>
              <a:t>results/v32/opportunity/7a6aa4e97c225bc8/result.json SHA256 1af53221b4745a51325ccf8e66133f1253ae2db7cd50b9ea681c18658d39c008</a:t>
            </a:r>
          </a:p>
          <a:p xmlns:a="http://schemas.openxmlformats.org/drawingml/2006/main">
            <a:r>
              <a:t>validation/persistent-shift-2026-06/comparison.json SHA256 d0355b0a660d75381dff7411a389b5181e8db3cfeabf30041909fd2981934048</a:t>
            </a:r>
          </a:p>
          <a:p xmlns:a="http://schemas.openxmlformats.org/drawingml/2006/main">
            <a:r>
              <a:t>validation/persistent-shift-2026-06/acceptance.json SHA256 15705a3d9d58348b60a50a314c33c90e3e76f6416449d81d72aa157e10b8535a</a:t>
            </a:r>
          </a:p>
          <a:p xmlns:a="http://schemas.openxmlformats.org/drawingml/2006/main">
            <a:r>
              <a:t>SimBench https://simbench.de/en/download/datasets/ ODbL1.0 / DbCL1.0。德国原始2016曲线按连续时段映射到中国时区2026仿真场景，非中国园区实测。公开回放 https://jinyh.github.io/energy-campus/ 。月度示范与72小时RSI研究分别记账。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当前界面截图：validation/facade-assets-2026-10-08/overview-clean-1366.jpg SHA256 7d5ccc29b1cc42dceec041c1cf8d405de4f2bc702e6090feddf3911781c93718。在线工程 F 月度核验已完成；原有真实成本与研究停止结论保持。视觉仍未达到参考站标准。SimBench 德国历史来源，非中国园区实测。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证据字段：task.period / storage / ev / provenance / query_cost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results/v32/jobs/310912a4ad924de6-summary.json SHA256 7274d16c5508057ac956a9056930a3b4b4e9fab4f664c1c707be827a50ca8ac1</a:t>
            </a:r>
          </a:p>
          <a:p xmlns:a="http://schemas.openxmlformats.org/drawingml/2006/main">
            <a:r>
              <a:t>results/v32/improvements/4de87f7924b021d8/result.json SHA256 3d7e1bfbabeb55fd41f0c0696eaaca947950262e877b83d133505920d06671f3</a:t>
            </a:r>
          </a:p>
          <a:p xmlns:a="http://schemas.openxmlformats.org/drawingml/2006/main">
            <a:r>
              <a:t>results/v32/opportunity/7a6aa4e97c225bc8/result.json SHA256 1af53221b4745a51325ccf8e66133f1253ae2db7cd50b9ea681c18658d39c008</a:t>
            </a:r>
          </a:p>
          <a:p xmlns:a="http://schemas.openxmlformats.org/drawingml/2006/main">
            <a:r>
              <a:t>validation/persistent-shift-2026-06/comparison.json SHA256 d0355b0a660d75381dff7411a389b5181e8db3cfeabf30041909fd2981934048</a:t>
            </a:r>
          </a:p>
          <a:p xmlns:a="http://schemas.openxmlformats.org/drawingml/2006/main">
            <a:r>
              <a:t>validation/persistent-shift-2026-06/acceptance.json SHA256 15705a3d9d58348b60a50a314c33c90e3e76f6416449d81d72aa157e10b8535a</a:t>
            </a:r>
          </a:p>
          <a:p xmlns:a="http://schemas.openxmlformats.org/drawingml/2006/main">
            <a:r>
              <a:t>SimBench https://simbench.de/en/download/datasets/ ODbL1.0 / DbCL1.0。德国原始2016曲线按连续时段映射到中国时区2026仿真场景，非中国园区实测。公开回放 https://jinyh.github.io/energy-campus/ 。月度示范与72小时RSI研究分别记账。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证据字段：explanation.rows / saving_components</a:t>
            </a:r>
          </a:p>
          <a:p xmlns:a="http://schemas.openxmlformats.org/drawingml/2006/main">
            <a:r>
              <a:t>未计算企业利润或真实现场收益。采用相同服务、安全与初末库存条件。</a:t>
            </a:r>
          </a:p>
          <a:p xmlns:a="http://schemas.openxmlformats.org/drawingml/2006/main">
            <a:r>
              <a:t>results/v32/jobs/310912a4ad924de6-summary.json SHA256 7274d16c5508057ac956a9056930a3b4b4e9fab4f664c1c707be827a50ca8ac1</a:t>
            </a:r>
          </a:p>
          <a:p xmlns:a="http://schemas.openxmlformats.org/drawingml/2006/main">
            <a:r>
              <a:t>results/v32/improvements/4de87f7924b021d8/result.json SHA256 3d7e1bfbabeb55fd41f0c0696eaaca947950262e877b83d133505920d06671f3</a:t>
            </a:r>
          </a:p>
          <a:p xmlns:a="http://schemas.openxmlformats.org/drawingml/2006/main">
            <a:r>
              <a:t>results/v32/opportunity/7a6aa4e97c225bc8/result.json SHA256 1af53221b4745a51325ccf8e66133f1253ae2db7cd50b9ea681c18658d39c008</a:t>
            </a:r>
          </a:p>
          <a:p xmlns:a="http://schemas.openxmlformats.org/drawingml/2006/main">
            <a:r>
              <a:t>validation/persistent-shift-2026-06/comparison.json SHA256 d0355b0a660d75381dff7411a389b5181e8db3cfeabf30041909fd2981934048</a:t>
            </a:r>
          </a:p>
          <a:p xmlns:a="http://schemas.openxmlformats.org/drawingml/2006/main">
            <a:r>
              <a:t>validation/persistent-shift-2026-06/acceptance.json SHA256 15705a3d9d58348b60a50a314c33c90e3e76f6416449d81d72aa157e10b8535a</a:t>
            </a:r>
          </a:p>
          <a:p xmlns:a="http://schemas.openxmlformats.org/drawingml/2006/main">
            <a:r>
              <a:t>SimBench https://simbench.de/en/download/datasets/ ODbL1.0 / DbCL1.0。德国原始2016曲线按连续时段映射到中国时区2026仿真场景，非中国园区实测。公开回放 https://jinyh.github.io/energy-campus/ 。月度示范与72小时RSI研究分别记账。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证据字段：explanation.episodes[method=mpc]</a:t>
            </a:r>
          </a:p>
          <a:p xmlns:a="http://schemas.openxmlformats.org/drawingml/2006/main">
            <a:r>
              <a:t>本次六月轨迹没有修复事件，不将正常调度包装为异常修复。</a:t>
            </a:r>
          </a:p>
          <a:p xmlns:a="http://schemas.openxmlformats.org/drawingml/2006/main">
            <a:r>
              <a:t>results/v32/jobs/310912a4ad924de6-summary.json SHA256 7274d16c5508057ac956a9056930a3b4b4e9fab4f664c1c707be827a50ca8ac1</a:t>
            </a:r>
          </a:p>
          <a:p xmlns:a="http://schemas.openxmlformats.org/drawingml/2006/main">
            <a:r>
              <a:t>results/v32/improvements/4de87f7924b021d8/result.json SHA256 3d7e1bfbabeb55fd41f0c0696eaaca947950262e877b83d133505920d06671f3</a:t>
            </a:r>
          </a:p>
          <a:p xmlns:a="http://schemas.openxmlformats.org/drawingml/2006/main">
            <a:r>
              <a:t>results/v32/opportunity/7a6aa4e97c225bc8/result.json SHA256 1af53221b4745a51325ccf8e66133f1253ae2db7cd50b9ea681c18658d39c008</a:t>
            </a:r>
          </a:p>
          <a:p xmlns:a="http://schemas.openxmlformats.org/drawingml/2006/main">
            <a:r>
              <a:t>validation/persistent-shift-2026-06/comparison.json SHA256 d0355b0a660d75381dff7411a389b5181e8db3cfeabf30041909fd2981934048</a:t>
            </a:r>
          </a:p>
          <a:p xmlns:a="http://schemas.openxmlformats.org/drawingml/2006/main">
            <a:r>
              <a:t>validation/persistent-shift-2026-06/acceptance.json SHA256 15705a3d9d58348b60a50a314c33c90e3e76f6416449d81d72aa157e10b8535a</a:t>
            </a:r>
          </a:p>
          <a:p xmlns:a="http://schemas.openxmlformats.org/drawingml/2006/main">
            <a:r>
              <a:t>SimBench https://simbench.de/en/download/datasets/ ODbL1.0 / DbCL1.0。德国原始2016曲线按连续时段映射到中国时区2026仿真场景，非中国园区实测。公开回放 https://jinyh.github.io/energy-campus/ 。月度示范与72小时RSI研究分别记账。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证据字段：city_programs / city_improvements / fixed experiment manifest</a:t>
            </a:r>
          </a:p>
          <a:p xmlns:a="http://schemas.openxmlformats.org/drawingml/2006/main">
            <a:r>
              <a:t>框架实现和合成继承测试不等于实际RSI优势。</a:t>
            </a:r>
          </a:p>
          <a:p xmlns:a="http://schemas.openxmlformats.org/drawingml/2006/main">
            <a:r>
              <a:t>results/v32/jobs/310912a4ad924de6-summary.json SHA256 7274d16c5508057ac956a9056930a3b4b4e9fab4f664c1c707be827a50ca8ac1</a:t>
            </a:r>
          </a:p>
          <a:p xmlns:a="http://schemas.openxmlformats.org/drawingml/2006/main">
            <a:r>
              <a:t>results/v32/improvements/4de87f7924b021d8/result.json SHA256 3d7e1bfbabeb55fd41f0c0696eaaca947950262e877b83d133505920d06671f3</a:t>
            </a:r>
          </a:p>
          <a:p xmlns:a="http://schemas.openxmlformats.org/drawingml/2006/main">
            <a:r>
              <a:t>results/v32/opportunity/7a6aa4e97c225bc8/result.json SHA256 1af53221b4745a51325ccf8e66133f1253ae2db7cd50b9ea681c18658d39c008</a:t>
            </a:r>
          </a:p>
          <a:p xmlns:a="http://schemas.openxmlformats.org/drawingml/2006/main">
            <a:r>
              <a:t>validation/persistent-shift-2026-06/comparison.json SHA256 d0355b0a660d75381dff7411a389b5181e8db3cfeabf30041909fd2981934048</a:t>
            </a:r>
          </a:p>
          <a:p xmlns:a="http://schemas.openxmlformats.org/drawingml/2006/main">
            <a:r>
              <a:t>validation/persistent-shift-2026-06/acceptance.json SHA256 15705a3d9d58348b60a50a314c33c90e3e76f6416449d81d72aa157e10b8535a</a:t>
            </a:r>
          </a:p>
          <a:p xmlns:a="http://schemas.openxmlformats.org/drawingml/2006/main">
            <a:r>
              <a:t>SimBench https://simbench.de/en/download/datasets/ ODbL1.0 / DbCL1.0。德国原始2016曲线按连续时段映射到中国时区2026仿真场景，非中国园区实测。公开回放 https://jinyh.github.io/energy-campus/ 。月度示范与72小时RSI研究分别记账。</a:t>
            </a:r>
          </a:p>
          <a:p xmlns:a="http://schemas.openxmlformats.org/drawingml/2006/main">
            <a:r>
              <a:t>当前固定在线工程 F：cf6c589c3f461ec4，触发时刻 2026-06-02 08:00 Asia/Shanghai。MPC 108174.15 元；情景 MPC 108295.91 元，均合格。每方法 2880 AC / 2784 MILP。该程序由人工固定，不包含候选晋升、G 演化或继承优势。原研究停止与原工具对照不变；不能将不同程序与情景工具的费用差归因为 RSI。证据 validation/live-f-2026-10-08/acceptance.json SHA256 a026156041af5b7b22663b18c9fd58e4979a2cef80c6ef4113bba78f2376b8cb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证据字段：improvements manifest / result</a:t>
            </a:r>
          </a:p>
          <a:p xmlns:a="http://schemas.openxmlformats.org/drawingml/2006/main">
            <a:r>
              <a:t>其余四组未执行，不能把缺失数据画成零成本优势。</a:t>
            </a:r>
          </a:p>
          <a:p xmlns:a="http://schemas.openxmlformats.org/drawingml/2006/main">
            <a:r>
              <a:t>results/v32/jobs/310912a4ad924de6-summary.json SHA256 7274d16c5508057ac956a9056930a3b4b4e9fab4f664c1c707be827a50ca8ac1</a:t>
            </a:r>
          </a:p>
          <a:p xmlns:a="http://schemas.openxmlformats.org/drawingml/2006/main">
            <a:r>
              <a:t>results/v32/improvements/4de87f7924b021d8/result.json SHA256 3d7e1bfbabeb55fd41f0c0696eaaca947950262e877b83d133505920d06671f3</a:t>
            </a:r>
          </a:p>
          <a:p xmlns:a="http://schemas.openxmlformats.org/drawingml/2006/main">
            <a:r>
              <a:t>results/v32/opportunity/7a6aa4e97c225bc8/result.json SHA256 1af53221b4745a51325ccf8e66133f1253ae2db7cd50b9ea681c18658d39c008</a:t>
            </a:r>
          </a:p>
          <a:p xmlns:a="http://schemas.openxmlformats.org/drawingml/2006/main">
            <a:r>
              <a:t>validation/persistent-shift-2026-06/comparison.json SHA256 d0355b0a660d75381dff7411a389b5181e8db3cfeabf30041909fd2981934048</a:t>
            </a:r>
          </a:p>
          <a:p xmlns:a="http://schemas.openxmlformats.org/drawingml/2006/main">
            <a:r>
              <a:t>validation/persistent-shift-2026-06/acceptance.json SHA256 15705a3d9d58348b60a50a314c33c90e3e76f6416449d81d72aa157e10b8535a</a:t>
            </a:r>
          </a:p>
          <a:p xmlns:a="http://schemas.openxmlformats.org/drawingml/2006/main">
            <a:r>
              <a:t>SimBench https://simbench.de/en/download/datasets/ ODbL1.0 / DbCL1.0。德国原始2016曲线按连续时段映射到中国时区2026仿真场景，非中国园区实测。公开回放 https://jinyh.github.io/energy-campus/ 。月度示范与72小时RSI研究分别记账。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证据字段：improvements/4de87f7924b021d8/result / admission / holdout</a:t>
            </a:r>
          </a:p>
          <a:p xmlns:a="http://schemas.openxmlformats.org/drawingml/2006/main">
            <a:r>
              <a:t>停止条件在调用前冻结；没有伪造模型候选或进化动画。</a:t>
            </a:r>
          </a:p>
          <a:p xmlns:a="http://schemas.openxmlformats.org/drawingml/2006/main">
            <a:r>
              <a:t>results/v32/jobs/310912a4ad924de6-summary.json SHA256 7274d16c5508057ac956a9056930a3b4b4e9fab4f664c1c707be827a50ca8ac1</a:t>
            </a:r>
          </a:p>
          <a:p xmlns:a="http://schemas.openxmlformats.org/drawingml/2006/main">
            <a:r>
              <a:t>results/v32/improvements/4de87f7924b021d8/result.json SHA256 3d7e1bfbabeb55fd41f0c0696eaaca947950262e877b83d133505920d06671f3</a:t>
            </a:r>
          </a:p>
          <a:p xmlns:a="http://schemas.openxmlformats.org/drawingml/2006/main">
            <a:r>
              <a:t>results/v32/opportunity/7a6aa4e97c225bc8/result.json SHA256 1af53221b4745a51325ccf8e66133f1253ae2db7cd50b9ea681c18658d39c008</a:t>
            </a:r>
          </a:p>
          <a:p xmlns:a="http://schemas.openxmlformats.org/drawingml/2006/main">
            <a:r>
              <a:t>validation/persistent-shift-2026-06/comparison.json SHA256 d0355b0a660d75381dff7411a389b5181e8db3cfeabf30041909fd2981934048</a:t>
            </a:r>
          </a:p>
          <a:p xmlns:a="http://schemas.openxmlformats.org/drawingml/2006/main">
            <a:r>
              <a:t>validation/persistent-shift-2026-06/acceptance.json SHA256 15705a3d9d58348b60a50a314c33c90e3e76f6416449d81d72aa157e10b8535a</a:t>
            </a:r>
          </a:p>
          <a:p xmlns:a="http://schemas.openxmlformats.org/drawingml/2006/main">
            <a:r>
              <a:t>SimBench https://simbench.de/en/download/datasets/ ODbL1.0 / DbCL1.0。德国原始2016曲线按连续时段映射到中国时区2026仿真场景，非中国园区实测。公开回放 https://jinyh.github.io/energy-campus/ 。月度示范与72小时RSI研究分别记账。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证据字段：opportunity/7a6aa4e97c225bc8/result</a:t>
            </a:r>
          </a:p>
          <a:p xmlns:a="http://schemas.openxmlformats.org/drawingml/2006/main">
            <a:r>
              <a:t>新增11520 AC、4680 MILP；不使用验证或最终留出任务。</a:t>
            </a:r>
          </a:p>
          <a:p xmlns:a="http://schemas.openxmlformats.org/drawingml/2006/main">
            <a:r>
              <a:t>results/v32/jobs/310912a4ad924de6-summary.json SHA256 7274d16c5508057ac956a9056930a3b4b4e9fab4f664c1c707be827a50ca8ac1</a:t>
            </a:r>
          </a:p>
          <a:p xmlns:a="http://schemas.openxmlformats.org/drawingml/2006/main">
            <a:r>
              <a:t>results/v32/improvements/4de87f7924b021d8/result.json SHA256 3d7e1bfbabeb55fd41f0c0696eaaca947950262e877b83d133505920d06671f3</a:t>
            </a:r>
          </a:p>
          <a:p xmlns:a="http://schemas.openxmlformats.org/drawingml/2006/main">
            <a:r>
              <a:t>results/v32/opportunity/7a6aa4e97c225bc8/result.json SHA256 1af53221b4745a51325ccf8e66133f1253ae2db7cd50b9ea681c18658d39c008</a:t>
            </a:r>
          </a:p>
          <a:p xmlns:a="http://schemas.openxmlformats.org/drawingml/2006/main">
            <a:r>
              <a:t>validation/persistent-shift-2026-06/comparison.json SHA256 d0355b0a660d75381dff7411a389b5181e8db3cfeabf30041909fd2981934048</a:t>
            </a:r>
          </a:p>
          <a:p xmlns:a="http://schemas.openxmlformats.org/drawingml/2006/main">
            <a:r>
              <a:t>validation/persistent-shift-2026-06/acceptance.json SHA256 15705a3d9d58348b60a50a314c33c90e3e76f6416449d81d72aa157e10b8535a</a:t>
            </a:r>
          </a:p>
          <a:p xmlns:a="http://schemas.openxmlformats.org/drawingml/2006/main">
            <a:r>
              <a:t>SimBench https://simbench.de/en/download/datasets/ ODbL1.0 / DbCL1.0。德国原始2016曲线按连续时段映射到中国时区2026仿真场景，非中国园区实测。公开回放 https://jinyh.github.io/energy-campus/ 。月度示范与72小时RSI研究分别记账。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证据字段：persistent-shift acceptance / forecast_diagnostics / perturbation</a:t>
            </a:r>
          </a:p>
          <a:p xmlns:a="http://schemas.openxmlformats.org/drawingml/2006/main">
            <a:r>
              <a:t>原第2日扰动和原72小时研究保持不变。诊断只使用目标时刻严格早于当前决策的样本。</a:t>
            </a:r>
          </a:p>
          <a:p xmlns:a="http://schemas.openxmlformats.org/drawingml/2006/main">
            <a:r>
              <a:t>results/v32/jobs/310912a4ad924de6-summary.json SHA256 7274d16c5508057ac956a9056930a3b4b4e9fab4f664c1c707be827a50ca8ac1</a:t>
            </a:r>
          </a:p>
          <a:p xmlns:a="http://schemas.openxmlformats.org/drawingml/2006/main">
            <a:r>
              <a:t>results/v32/improvements/4de87f7924b021d8/result.json SHA256 3d7e1bfbabeb55fd41f0c0696eaaca947950262e877b83d133505920d06671f3</a:t>
            </a:r>
          </a:p>
          <a:p xmlns:a="http://schemas.openxmlformats.org/drawingml/2006/main">
            <a:r>
              <a:t>results/v32/opportunity/7a6aa4e97c225bc8/result.json SHA256 1af53221b4745a51325ccf8e66133f1253ae2db7cd50b9ea681c18658d39c008</a:t>
            </a:r>
          </a:p>
          <a:p xmlns:a="http://schemas.openxmlformats.org/drawingml/2006/main">
            <a:r>
              <a:t>validation/persistent-shift-2026-06/comparison.json SHA256 d0355b0a660d75381dff7411a389b5181e8db3cfeabf30041909fd2981934048</a:t>
            </a:r>
          </a:p>
          <a:p xmlns:a="http://schemas.openxmlformats.org/drawingml/2006/main">
            <a:r>
              <a:t>validation/persistent-shift-2026-06/acceptance.json SHA256 15705a3d9d58348b60a50a314c33c90e3e76f6416449d81d72aa157e10b8535a</a:t>
            </a:r>
          </a:p>
          <a:p xmlns:a="http://schemas.openxmlformats.org/drawingml/2006/main">
            <a:r>
              <a:t>SimBench https://simbench.de/en/download/datasets/ ODbL1.0 / DbCL1.0。德国原始2016曲线按连续时段映射到中国时区2026仿真场景，非中国园区实测。公开回放 https://jinyh.github.io/energy-campus/ 。月度示范与72小时RSI研究分别记账。</a:t>
            </a:r>
          </a:p>
          <a:p xmlns:a="http://schemas.openxmlformats.org/drawingml/2006/main">
            <a:r>
              <a:t>当前固定在线工程 F：cf6c589c3f461ec4，触发时刻 2026-06-02 08:00 Asia/Shanghai。MPC 108174.15 元；情景 MPC 108295.91 元，均合格。每方法 2880 AC / 2784 MILP。该程序由人工固定，不包含候选晋升、G 演化或继承优势。原研究停止与原工具对照不变；不能将不同程序与情景工具的费用差归因为 RSI。证据 validation/live-f-2026-10-08/acceptance.json SHA256 a026156041af5b7b22663b18c9fd58e4979a2cef80c6ef4113bba78f2376b8cb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证据字段：persistent-shift comparison / business_query_ledger</a:t>
            </a:r>
          </a:p>
          <a:p xmlns:a="http://schemas.openxmlformats.org/drawingml/2006/main">
            <a:r>
              <a:t>这组对照不包含F/G程序晋升或跨轮继承，不能归因为RSI。成本差仅在双方均合格时报告。</a:t>
            </a:r>
          </a:p>
          <a:p xmlns:a="http://schemas.openxmlformats.org/drawingml/2006/main">
            <a:r>
              <a:t>results/v32/jobs/310912a4ad924de6-summary.json SHA256 7274d16c5508057ac956a9056930a3b4b4e9fab4f664c1c707be827a50ca8ac1</a:t>
            </a:r>
          </a:p>
          <a:p xmlns:a="http://schemas.openxmlformats.org/drawingml/2006/main">
            <a:r>
              <a:t>results/v32/improvements/4de87f7924b021d8/result.json SHA256 3d7e1bfbabeb55fd41f0c0696eaaca947950262e877b83d133505920d06671f3</a:t>
            </a:r>
          </a:p>
          <a:p xmlns:a="http://schemas.openxmlformats.org/drawingml/2006/main">
            <a:r>
              <a:t>results/v32/opportunity/7a6aa4e97c225bc8/result.json SHA256 1af53221b4745a51325ccf8e66133f1253ae2db7cd50b9ea681c18658d39c008</a:t>
            </a:r>
          </a:p>
          <a:p xmlns:a="http://schemas.openxmlformats.org/drawingml/2006/main">
            <a:r>
              <a:t>validation/persistent-shift-2026-06/comparison.json SHA256 d0355b0a660d75381dff7411a389b5181e8db3cfeabf30041909fd2981934048</a:t>
            </a:r>
          </a:p>
          <a:p xmlns:a="http://schemas.openxmlformats.org/drawingml/2006/main">
            <a:r>
              <a:t>validation/persistent-shift-2026-06/acceptance.json SHA256 15705a3d9d58348b60a50a314c33c90e3e76f6416449d81d72aa157e10b8535a</a:t>
            </a:r>
          </a:p>
          <a:p xmlns:a="http://schemas.openxmlformats.org/drawingml/2006/main">
            <a:r>
              <a:t>SimBench https://simbench.de/en/download/datasets/ ODbL1.0 / DbCL1.0。德国原始2016曲线按连续时段映射到中国时区2026仿真场景，非中国园区实测。公开回放 https://jinyh.github.io/energy-campus/ 。月度示范与72小时RSI研究分别记账。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当前界面截图：validation/facade-assets-2026-10-08/energy-clean-1366.jpg SHA256 10391d953ca7c49965fe733c9dac45d981ea8b2f0f89aca50bcf56257b3f6d78。在线工程 F 月度核验已完成；原有真实成本与研究停止结论保持。视觉仍未达到参考站标准。SimBench 德国历史来源，非中国园区实测。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89a5a10aaa4d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1cb36ed42c4bf0" /><Relationship Type="http://schemas.openxmlformats.org/officeDocument/2006/relationships/slideLayout" Target="/ppt/slideLayouts/slideLayout1.xml" Id="R4fefc6ddc59748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efc6ddc59748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8041a01af4da0" /><Relationship Type="http://schemas.openxmlformats.org/officeDocument/2006/relationships/notesSlide" Target="/ppt/notesSlides/notesSlide1.xml" Id="R69b0f506331043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28731d1694cb9" /><Relationship Type="http://schemas.openxmlformats.org/officeDocument/2006/relationships/image" Target="/ppt/media/image.jpeg" Id="R2f44af7f9f33404f" /><Relationship Type="http://schemas.openxmlformats.org/officeDocument/2006/relationships/notesSlide" Target="/ppt/notesSlides/notesSlide2.xml" Id="R6b82aacedffa4d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49717f08b64898" /><Relationship Type="http://schemas.openxmlformats.org/officeDocument/2006/relationships/notesSlide" Target="/ppt/notesSlides/notesSlide3.xml" Id="R8f71d070a3b341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a8b857d869444e" /><Relationship Type="http://schemas.openxmlformats.org/officeDocument/2006/relationships/notesSlide" Target="/ppt/notesSlides/notesSlide4.xml" Id="Re776cc4ec51f4f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d33b19388d420a" /><Relationship Type="http://schemas.openxmlformats.org/officeDocument/2006/relationships/notesSlide" Target="/ppt/notesSlides/notesSlide5.xml" Id="Rfe6c8e5c57e64e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36269f1e44083" /><Relationship Type="http://schemas.openxmlformats.org/officeDocument/2006/relationships/notesSlide" Target="/ppt/notesSlides/notesSlide6.xml" Id="R66ef8a9ff7dd4d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b8b85cbc0341b3" /><Relationship Type="http://schemas.openxmlformats.org/officeDocument/2006/relationships/notesSlide" Target="/ppt/notesSlides/notesSlide7.xml" Id="Rc6ef54644c4b40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e0c3a10da04c41" /><Relationship Type="http://schemas.openxmlformats.org/officeDocument/2006/relationships/notesSlide" Target="/ppt/notesSlides/notesSlide8.xml" Id="R845427006a0742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2ed7442da64779" /><Relationship Type="http://schemas.openxmlformats.org/officeDocument/2006/relationships/notesSlide" Target="/ppt/notesSlides/notesSlide9.xml" Id="Rca47f77e289b4bf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a03d8a0544dd3" /><Relationship Type="http://schemas.openxmlformats.org/officeDocument/2006/relationships/notesSlide" Target="/ppt/notesSlides/notesSlide10.xml" Id="R403c071a05af408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189a65024b4c42" /><Relationship Type="http://schemas.openxmlformats.org/officeDocument/2006/relationships/notesSlide" Target="/ppt/notesSlides/notesSlide11.xml" Id="R8f7088d26f764ab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037bf63a544cf5" /><Relationship Type="http://schemas.openxmlformats.org/officeDocument/2006/relationships/image" Target="/ppt/media/image2.jpeg" Id="Rdf5f7ad2a56d4263" /><Relationship Type="http://schemas.openxmlformats.org/officeDocument/2006/relationships/notesSlide" Target="/ppt/notesSlides/notesSlide12.xml" Id="R55edbff9cee446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9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864E90-6E39-4226-876A-FA0FCD1A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52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5D5C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75D5C5"/>
                </a:solidFill>
                <a:latin typeface="Hiragino Sans GB"/>
                <a:ea typeface="Hiragino Sans GB"/>
                <a:cs typeface="Hiragino Sans GB"/>
              </a:rPr>
              <a:t>光伏 · 储能 · 充电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A6855A-3C7C-4DAA-888C-B71B844B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85800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E5EDF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E5EDF7"/>
                </a:solidFill>
                <a:latin typeface="Hiragino Sans GB"/>
                <a:ea typeface="Hiragino Sans GB"/>
                <a:cs typeface="Hiragino Sans GB"/>
              </a:rPr>
              <a:t>园区能源运营演示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7F91EE-CF4F-4CC5-9123-C7A52701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19225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526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AD54F3-6919-4D6A-BBBB-69A02D48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125" b="1">
                <a:solidFill>
                  <a:srgbClr val="75D5C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125" b="1">
                <a:solidFill>
                  <a:srgbClr val="75D5C5"/>
                </a:solidFill>
                <a:latin typeface="Hiragino Sans GB"/>
                <a:ea typeface="Hiragino Sans GB"/>
                <a:cs typeface="Hiragino Sans GB"/>
              </a:rPr>
              <a:t>2026 年 6 月仿真场景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D9472E-501C-4A29-9626-68CCC9CB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813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E5EDF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E5EDF7"/>
                </a:solidFill>
                <a:latin typeface="Hiragino Sans GB"/>
                <a:ea typeface="Hiragino Sans GB"/>
                <a:cs typeface="Hiragino Sans GB"/>
              </a:rPr>
              <a:t>连续整月回放、在线工程修复、可追溯程序记录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DB8952-4B37-4F18-9ADF-B3B01B85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386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75D5C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75D5C5"/>
                </a:solidFill>
                <a:latin typeface="Hiragino Sans GB"/>
                <a:ea typeface="Hiragino Sans GB"/>
                <a:cs typeface="Hiragino Sans GB"/>
              </a:rPr>
              <a:t>https://jinyh.github.io/energy-campus/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75C50E-D6EE-4F4C-BE7D-28E6B878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768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rPr>
              <a:t>北京时间 UTC+08:00 · SimBench 德国历史曲线 · RSI 优势待验证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720187-8556-4931-9E79-F7F6FF44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67475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rPr>
              <a:t>2026年6月仿真 · v3.2 · 公开基准验证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9713E6-F046-45C1-A2F9-5D47E92B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447091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9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EC10BC-B9B3-46E9-A3C1-E0A42C5B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52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5D5C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75D5C5"/>
                </a:solidFill>
                <a:latin typeface="Hiragino Sans GB"/>
                <a:ea typeface="Hiragino Sans GB"/>
                <a:cs typeface="Hiragino Sans GB"/>
              </a:rPr>
              <a:t>在线演示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C72CA2-E0E5-4CF7-98E6-F8FE2E7B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85800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E5EDF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E5EDF7"/>
                </a:solidFill>
                <a:latin typeface="Hiragino Sans GB"/>
                <a:ea typeface="Hiragino Sans GB"/>
                <a:cs typeface="Hiragino Sans GB"/>
              </a:rPr>
              <a:t>场景主导的运行回放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C9E131-C929-4F3F-8E61-F15FCC50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19225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526D"/>
          </a:solidFill>
          <a:ln xmlns:a="http://schemas.openxmlformats.org/drawingml/2006/main" w="0">
            <a:noFill/>
          </a:ln>
        </p:spPr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F2E947-846A-44D9-BA50-9BA245B9A7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44af7f9f33404f"/>
          <a:srcRect xmlns:a="http://schemas.openxmlformats.org/drawingml/2006/main" l="0" t="2306" r="0" b="23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95910" y="1647825"/>
            <a:ext cx="7200181" cy="40481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1E78EB-9B15-42D9-B7FD-ADEDB7F0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5787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75D5C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75D5C5"/>
                </a:solidFill>
                <a:latin typeface="Hiragino Sans GB"/>
                <a:ea typeface="Hiragino Sans GB"/>
                <a:cs typeface="Hiragino Sans GB"/>
              </a:rPr>
              <a:t>日期与方案共用播放时钟；日景、夜景、设备近景与线路图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DD71AB-522C-4FF8-B444-312C1063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67475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rPr>
              <a:t>2026年6月仿真 · v3.2 · 公开基准验证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5BDC33-B259-40C3-9E75-05317CDF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072267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9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9F57B5-474E-4449-9975-48D31B51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52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5D5C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75D5C5"/>
                </a:solidFill>
                <a:latin typeface="Hiragino Sans GB"/>
                <a:ea typeface="Hiragino Sans GB"/>
                <a:cs typeface="Hiragino Sans GB"/>
              </a:rPr>
              <a:t>数据口径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DA2D23-AFA3-470B-894F-8B3DC492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85800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E5EDF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E5EDF7"/>
                </a:solidFill>
                <a:latin typeface="Hiragino Sans GB"/>
                <a:ea typeface="Hiragino Sans GB"/>
                <a:cs typeface="Hiragino Sans GB"/>
              </a:rPr>
              <a:t>月度场景与结算边界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9068A1-1E43-498A-B7DF-1A9B224F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19225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526D"/>
          </a:solidFill>
          <a:ln xmlns:a="http://schemas.openxmlformats.org/drawingml/2006/main" w="0">
            <a:noFill/>
          </a:ln>
        </p:spPr>
      </p:sp>
      <p:graphicFrame>
        <p:nvGraphicFrame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6DE528-5C38-404B-AD8C-F916234CB57C}"/>
              </a:ext>
            </a:extLst>
          </p:cNvPr>
          <p:cNvGraphicFramePr/>
          <p:nvPr/>
        </p:nvGraphicFramePr>
        <p:xfrm>
          <a:off xmlns:a="http://schemas.openxmlformats.org/drawingml/2006/main" x="666750" y="1762125"/>
          <a:ext xmlns:a="http://schemas.openxmlformats.org/drawingml/2006/main" cx="10858500" cy="3781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477250"/>
              </a:tblGrid>
              <a:tr h="540204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项目</a:t>
                      </a:r>
                    </a:p>
                  </a:txBody>
                  <a:tcPr marL="95250" marR="95250" marT="9525" marB="9525" anchor="ctr">
                    <a:solidFill>
                      <a:srgbClr val="28465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本次口径</a:t>
                      </a:r>
                    </a:p>
                  </a:txBody>
                  <a:tcPr marL="95250" marR="95250" marT="9525" marB="9525" anchor="ctr">
                    <a:solidFill>
                      <a:srgbClr val="28465F"/>
                    </a:solidFill>
                  </a:tcPr>
                </a:tc>
              </a:tr>
              <a:tr h="540204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月份与时间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2026 年 6 月；2,880 × 15 分钟；北京时间 UTC+08:00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</a:tr>
              <a:tr h="540204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数据来源</a:t>
                      </a:r>
                    </a:p>
                  </a:txBody>
                  <a:tcPr marL="95250" marR="95250" marT="9525" marB="9525" anchor="ctr">
                    <a:solidFill>
                      <a:srgbClr val="192D43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SimBench 2016 年同月及此前连续历史；保留时间映射</a:t>
                      </a:r>
                    </a:p>
                  </a:txBody>
                  <a:tcPr marL="95250" marR="95250" marT="9525" marB="9525" anchor="ctr">
                    <a:solidFill>
                      <a:srgbClr val="192D43"/>
                    </a:solidFill>
                  </a:tcPr>
                </a:tc>
              </a:tr>
              <a:tr h="540204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设备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储能 100 kW / 400 kWh；8 个 22 kW 充电终端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</a:tr>
              <a:tr h="540204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连续状态</a:t>
                      </a:r>
                    </a:p>
                  </a:txBody>
                  <a:tcPr marL="95250" marR="95250" marT="9525" marB="9525" anchor="ctr">
                    <a:solidFill>
                      <a:srgbClr val="192D43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跨日保留 SOC 和车辆需求；初末库存均为 200 kWh</a:t>
                      </a:r>
                    </a:p>
                  </a:txBody>
                  <a:tcPr marL="95250" marR="95250" marT="9525" marB="9525" anchor="ctr">
                    <a:solidFill>
                      <a:srgbClr val="192D43"/>
                    </a:solidFill>
                  </a:tcPr>
                </a:tc>
              </a:tr>
              <a:tr h="540204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合同与成本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固定分时合同；购电费 − 上网收入 + 储能折损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</a:tr>
              <a:tr h="540204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计算账本</a:t>
                      </a:r>
                    </a:p>
                  </a:txBody>
                  <a:tcPr marL="95250" marR="95250" marT="9525" marB="9525" anchor="ctr">
                    <a:solidFill>
                      <a:srgbClr val="192D43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三基线 8,640 次 AC / 1,440 次 MILP；模型调用 0</a:t>
                      </a:r>
                    </a:p>
                  </a:txBody>
                  <a:tcPr marL="95250" marR="95250" marT="9525" marB="9525" anchor="ctr">
                    <a:solidFill>
                      <a:srgbClr val="192D43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54906E-5E75-424B-8882-8B14647A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8167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75D5C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75D5C5"/>
                </a:solidFill>
                <a:latin typeface="Hiragino Sans GB"/>
                <a:ea typeface="Hiragino Sans GB"/>
                <a:cs typeface="Hiragino Sans GB"/>
              </a:rPr>
              <a:t>在线版提供六月日常与持续偏移回放，本机版负责参数与导入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314B74-F5AC-40C4-B184-54141953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67475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rPr>
              <a:t>2026年6月仿真 · v3.2 · 公开基准验证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65B8FA-5AE0-4820-8826-F5E2033F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712546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9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280B3A-1793-4C78-B87A-DAECE533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52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5D5C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75D5C5"/>
                </a:solidFill>
                <a:latin typeface="Hiragino Sans GB"/>
                <a:ea typeface="Hiragino Sans GB"/>
                <a:cs typeface="Hiragino Sans GB"/>
              </a:rPr>
              <a:t>整月优势比较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BB7515-BFAF-4B78-BEBD-34904F22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85800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E5EDF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E5EDF7"/>
                </a:solidFill>
                <a:latin typeface="Hiragino Sans GB"/>
                <a:ea typeface="Hiragino Sans GB"/>
                <a:cs typeface="Hiragino Sans GB"/>
              </a:rPr>
              <a:t>三种方案均合格，滚动优化节省 480.12 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4D9BF5-FB15-4278-AD9B-5394240B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19225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526D"/>
          </a:solidFill>
          <a:ln xmlns:a="http://schemas.openxmlformats.org/drawingml/2006/main" w="0">
            <a:noFill/>
          </a:ln>
        </p:spPr>
      </p:sp>
      <p:graphicFrame>
        <p:nvGraphicFrame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00D48C-D1A0-4E59-997C-5A8242E1BF9A}"/>
              </a:ext>
            </a:extLst>
          </p:cNvPr>
          <p:cNvGraphicFramePr/>
          <p:nvPr/>
        </p:nvGraphicFramePr>
        <p:xfrm>
          <a:off xmlns:a="http://schemas.openxmlformats.org/drawingml/2006/main" x="666750" y="1762125"/>
          <a:ext xmlns:a="http://schemas.openxmlformats.org/drawingml/2006/main" cx="108585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381250"/>
                <a:gridCol w="2381250"/>
                <a:gridCol w="1524000"/>
                <a:gridCol w="1714500"/>
              </a:tblGrid>
              <a:tr h="5715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方案</a:t>
                      </a:r>
                    </a:p>
                  </a:txBody>
                  <a:tcPr marL="95250" marR="95250" marT="9525" marB="9525" anchor="ctr">
                    <a:solidFill>
                      <a:srgbClr val="28465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运行成本 / 元</a:t>
                      </a:r>
                    </a:p>
                  </a:txBody>
                  <a:tcPr marL="95250" marR="95250" marT="9525" marB="9525" anchor="ctr">
                    <a:solidFill>
                      <a:srgbClr val="28465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比规则节省 / 元</a:t>
                      </a:r>
                    </a:p>
                  </a:txBody>
                  <a:tcPr marL="95250" marR="95250" marT="9525" marB="9525" anchor="ctr">
                    <a:solidFill>
                      <a:srgbClr val="28465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节省比例</a:t>
                      </a:r>
                    </a:p>
                  </a:txBody>
                  <a:tcPr marL="95250" marR="95250" marT="9525" marB="9525" anchor="ctr">
                    <a:solidFill>
                      <a:srgbClr val="28465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安全与履约</a:t>
                      </a:r>
                    </a:p>
                  </a:txBody>
                  <a:tcPr marL="95250" marR="95250" marT="9525" marB="9525" anchor="ctr">
                    <a:solidFill>
                      <a:srgbClr val="28465F"/>
                    </a:solidFill>
                  </a:tcPr>
                </a:tc>
              </a:tr>
              <a:tr h="5715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规则调度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78,871.91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—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—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通过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</a:tr>
              <a:tr h="5715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滚动优化</a:t>
                      </a:r>
                    </a:p>
                  </a:txBody>
                  <a:tcPr marL="95250" marR="95250" marT="9525" marB="9525" anchor="ctr">
                    <a:solidFill>
                      <a:srgbClr val="192D43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78,391.79</a:t>
                      </a:r>
                    </a:p>
                  </a:txBody>
                  <a:tcPr marL="95250" marR="95250" marT="9525" marB="9525" anchor="ctr">
                    <a:solidFill>
                      <a:srgbClr val="192D43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480.12</a:t>
                      </a:r>
                    </a:p>
                  </a:txBody>
                  <a:tcPr marL="95250" marR="95250" marT="9525" marB="9525" anchor="ctr">
                    <a:solidFill>
                      <a:srgbClr val="192D43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0.609%</a:t>
                      </a:r>
                    </a:p>
                  </a:txBody>
                  <a:tcPr marL="95250" marR="95250" marT="9525" marB="9525" anchor="ctr">
                    <a:solidFill>
                      <a:srgbClr val="192D43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通过</a:t>
                      </a:r>
                    </a:p>
                  </a:txBody>
                  <a:tcPr marL="95250" marR="95250" marT="9525" marB="9525" anchor="ctr">
                    <a:solidFill>
                      <a:srgbClr val="192D43"/>
                    </a:solidFill>
                  </a:tcPr>
                </a:tc>
              </a:tr>
              <a:tr h="5715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情景滚动优化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78,533.90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338.01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0.429%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通过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B7373D-6601-4D64-88B3-ED537AA1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529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75D5C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75D5C5"/>
                </a:solidFill>
                <a:latin typeface="Hiragino Sans GB"/>
                <a:ea typeface="Hiragino Sans GB"/>
                <a:cs typeface="Hiragino Sans GB"/>
              </a:rPr>
              <a:t>滚动优化的费用分解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FA7DB8-95E8-4E42-AF89-9BDD390F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24425"/>
            <a:ext cx="10477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E5EDF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E5EDF7"/>
                </a:solidFill>
                <a:latin typeface="Hiragino Sans GB"/>
                <a:ea typeface="Hiragino Sans GB"/>
                <a:cs typeface="Hiragino Sans GB"/>
              </a:rPr>
              <a:t>购电费差额 488.73 + 上网收入变化 -9.61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E5EDF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E5EDF7"/>
                </a:solidFill>
                <a:latin typeface="Hiragino Sans GB"/>
                <a:ea typeface="Hiragino Sans GB"/>
                <a:cs typeface="Hiragino Sans GB"/>
              </a:rPr>
              <a:t>+ 折损差额 1.00 = 全月节省 480.12 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855766-D7DA-4799-93D2-7B3D1D00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05500"/>
            <a:ext cx="1057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978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rPr>
              <a:t>属于工程调度收益；本月未观察到情景优化的可靠性优势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C963F7-8FCA-4A4D-A6D6-065A9A6E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67475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rPr>
              <a:t>2026年6月仿真 · v3.2 · 公开基准验证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938614-A9BF-4EA6-95BC-5C534C84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949773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9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0E7529-CB14-4BCF-8B6F-6365E600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52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5D5C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75D5C5"/>
                </a:solidFill>
                <a:latin typeface="Hiragino Sans GB"/>
                <a:ea typeface="Hiragino Sans GB"/>
                <a:cs typeface="Hiragino Sans GB"/>
              </a:rPr>
              <a:t>机理讲解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D40EBF-7A23-48DC-B96A-DCA01C2E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85800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E5EDF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E5EDF7"/>
                </a:solidFill>
                <a:latin typeface="Hiragino Sans GB"/>
                <a:ea typeface="Hiragino Sans GB"/>
                <a:cs typeface="Hiragino Sans GB"/>
              </a:rPr>
              <a:t>调度如何改变同一时刻的充电行为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36BA03-E8EE-4803-9187-8E360619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19225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526D"/>
          </a:solidFill>
          <a:ln xmlns:a="http://schemas.openxmlformats.org/drawingml/2006/main" w="0">
            <a:noFill/>
          </a:ln>
        </p:spPr>
      </p:sp>
      <p:graphicFrame>
        <p:nvGraphicFrame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DEC26E-D9B9-424C-AEEA-75B04EF856C1}"/>
              </a:ext>
            </a:extLst>
          </p:cNvPr>
          <p:cNvGraphicFramePr/>
          <p:nvPr/>
        </p:nvGraphicFramePr>
        <p:xfrm>
          <a:off xmlns:a="http://schemas.openxmlformats.org/drawingml/2006/main" x="666750" y="1762125"/>
          <a:ext xmlns:a="http://schemas.openxmlformats.org/drawingml/2006/main" cx="10858500" cy="2209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2428875"/>
                <a:gridCol w="2428875"/>
                <a:gridCol w="2381250"/>
              </a:tblGrid>
              <a:tr h="55245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06-01 08:30</a:t>
                      </a:r>
                    </a:p>
                  </a:txBody>
                  <a:tcPr marL="95250" marR="95250" marT="9525" marB="9525" anchor="ctr">
                    <a:solidFill>
                      <a:srgbClr val="28465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规则调度</a:t>
                      </a:r>
                    </a:p>
                  </a:txBody>
                  <a:tcPr marL="95250" marR="95250" marT="9525" marB="9525" anchor="ctr">
                    <a:solidFill>
                      <a:srgbClr val="28465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滚动优化</a:t>
                      </a:r>
                    </a:p>
                  </a:txBody>
                  <a:tcPr marL="95250" marR="95250" marT="9525" marB="9525" anchor="ctr">
                    <a:solidFill>
                      <a:srgbClr val="28465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情景优化</a:t>
                      </a:r>
                    </a:p>
                  </a:txBody>
                  <a:tcPr marL="95250" marR="95250" marT="9525" marB="9525" anchor="ctr">
                    <a:solidFill>
                      <a:srgbClr val="28465F"/>
                    </a:solidFill>
                  </a:tcPr>
                </a:tc>
              </a:tr>
              <a:tr h="55245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800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充电请求 / 实际 kW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800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176 / 176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800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 / 0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800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22 / 22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</a:tr>
              <a:tr h="55245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800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关口购电 kW</a:t>
                      </a:r>
                    </a:p>
                  </a:txBody>
                  <a:tcPr marL="95250" marR="95250" marT="9525" marB="9525" anchor="ctr">
                    <a:solidFill>
                      <a:srgbClr val="192D43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800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432.92</a:t>
                      </a:r>
                    </a:p>
                  </a:txBody>
                  <a:tcPr marL="95250" marR="95250" marT="9525" marB="9525" anchor="ctr">
                    <a:solidFill>
                      <a:srgbClr val="192D43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800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254.89</a:t>
                      </a:r>
                    </a:p>
                  </a:txBody>
                  <a:tcPr marL="95250" marR="95250" marT="9525" marB="9525" anchor="ctr">
                    <a:solidFill>
                      <a:srgbClr val="192D43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800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277.09</a:t>
                      </a:r>
                    </a:p>
                  </a:txBody>
                  <a:tcPr marL="95250" marR="95250" marT="9525" marB="9525" anchor="ctr">
                    <a:solidFill>
                      <a:srgbClr val="192D43"/>
                    </a:solidFill>
                  </a:tcPr>
                </a:tc>
              </a:tr>
              <a:tr h="55245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800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储能 kW / 期初 kWh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800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 / 400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800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 / 400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800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 / 400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8AC956-06C3-4316-B14A-8D9C41E6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4340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75D5C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75D5C5"/>
                </a:solidFill>
                <a:latin typeface="Hiragino Sans GB"/>
                <a:ea typeface="Hiragino Sans GB"/>
                <a:cs typeface="Hiragino Sans GB"/>
              </a:rPr>
              <a:t>08:00 已发布计划 → 在终端功率与截止需求内分配充电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116E41-289D-40C5-B1BB-63C6315C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387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E5EDF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E5EDF7"/>
                </a:solidFill>
                <a:latin typeface="Hiragino Sans GB"/>
                <a:ea typeface="Hiragino Sans GB"/>
                <a:cs typeface="Hiragino Sans GB"/>
              </a:rPr>
              <a:t>滚动优化将部分需求留给后续时段，全月逐车截止履约仍通过。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E5EDF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E5EDF7"/>
                </a:solidFill>
                <a:latin typeface="Hiragino Sans GB"/>
                <a:ea typeface="Hiragino Sans GB"/>
                <a:cs typeface="Hiragino Sans GB"/>
              </a:rPr>
              <a:t>该时段用于事后讲解；收益由整月账本确认。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21B48F-DEA7-4550-AE54-BF798C12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67475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rPr>
              <a:t>2026年6月仿真 · v3.2 · 公开基准验证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21D4F0-06C0-451F-A7DC-0E3F0152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582171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19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575964-83E7-45AB-B7C9-2F005CD1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52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5D5C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75D5C5"/>
                </a:solidFill>
                <a:latin typeface="Hiragino Sans GB"/>
                <a:ea typeface="Hiragino Sans GB"/>
                <a:cs typeface="Hiragino Sans GB"/>
              </a:rPr>
              <a:t>机制边界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A80D2F-60F4-4E8C-A26B-4E661E60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85800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E5EDF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E5EDF7"/>
                </a:solidFill>
                <a:latin typeface="Hiragino Sans GB"/>
                <a:ea typeface="Hiragino Sans GB"/>
                <a:cs typeface="Hiragino Sans GB"/>
              </a:rPr>
              <a:t>预测、调度与自我改进的职责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554B03-1BC7-4BFD-B85C-B708F255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19225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526D"/>
          </a:solidFill>
          <a:ln xmlns:a="http://schemas.openxmlformats.org/drawingml/2006/main" w="0">
            <a:noFill/>
          </a:ln>
        </p:spPr>
      </p:sp>
      <p:graphicFrame>
        <p:nvGraphicFrame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646358-0793-4BB7-8097-1986981AAEE3}"/>
              </a:ext>
            </a:extLst>
          </p:cNvPr>
          <p:cNvGraphicFramePr/>
          <p:nvPr/>
        </p:nvGraphicFramePr>
        <p:xfrm>
          <a:off xmlns:a="http://schemas.openxmlformats.org/drawingml/2006/main" x="666750" y="1762125"/>
          <a:ext xmlns:a="http://schemas.openxmlformats.org/drawingml/2006/main" cx="108585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5095875"/>
                <a:gridCol w="3762375"/>
              </a:tblGrid>
              <a:tr h="62865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层次</a:t>
                      </a:r>
                    </a:p>
                  </a:txBody>
                  <a:tcPr marL="95250" marR="95250" marT="9525" marB="9525" anchor="ctr">
                    <a:solidFill>
                      <a:srgbClr val="28465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负责什么</a:t>
                      </a:r>
                    </a:p>
                  </a:txBody>
                  <a:tcPr marL="95250" marR="95250" marT="9525" marB="9525" anchor="ctr">
                    <a:solidFill>
                      <a:srgbClr val="28465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当前证据</a:t>
                      </a:r>
                    </a:p>
                  </a:txBody>
                  <a:tcPr marL="95250" marR="95250" marT="9525" marB="9525" anchor="ctr">
                    <a:solidFill>
                      <a:srgbClr val="28465F"/>
                    </a:solidFill>
                  </a:tcPr>
                </a:tc>
              </a:tr>
              <a:tr h="62865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预测工具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朴素 / GBDT / 已揭示残差校正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共享预测信息，合同电价已知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</a:tr>
              <a:tr h="62865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工程调度</a:t>
                      </a:r>
                    </a:p>
                  </a:txBody>
                  <a:tcPr marL="95250" marR="95250" marT="9525" marB="9525" anchor="ctr">
                    <a:solidFill>
                      <a:srgbClr val="192D43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按 SOC、车辆需求和设备权限安排动作</a:t>
                      </a:r>
                    </a:p>
                  </a:txBody>
                  <a:tcPr marL="95250" marR="95250" marT="9525" marB="9525" anchor="ctr">
                    <a:solidFill>
                      <a:srgbClr val="192D43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真实物理执行与同表计结算</a:t>
                      </a:r>
                    </a:p>
                  </a:txBody>
                  <a:tcPr marL="95250" marR="95250" marT="9525" marB="9525" anchor="ctr">
                    <a:solidFill>
                      <a:srgbClr val="192D43"/>
                    </a:solidFill>
                  </a:tcPr>
                </a:tc>
              </a:tr>
              <a:tr h="62865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处理程序 F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修改诊断、工具顺序、参数、复用与停止条件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在线工程 F 已执行；程序固定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</a:tr>
              <a:tr h="62865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改进程序 G</a:t>
                      </a:r>
                    </a:p>
                  </a:txBody>
                  <a:tcPr marL="95250" marR="95250" marT="9525" marB="9525" anchor="ctr">
                    <a:solidFill>
                      <a:srgbClr val="192D43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修改证据选择、假设排序与验证预算分配</a:t>
                      </a:r>
                    </a:p>
                  </a:txBody>
                  <a:tcPr marL="95250" marR="95250" marT="9525" marB="9525" anchor="ctr">
                    <a:solidFill>
                      <a:srgbClr val="192D43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继承机制已实现，实际晋升 0</a:t>
                      </a:r>
                    </a:p>
                  </a:txBody>
                  <a:tcPr marL="95250" marR="95250" marT="9525" marB="9525" anchor="ctr">
                    <a:solidFill>
                      <a:srgbClr val="192D43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92F1F9-1DCC-44AB-BE3E-4558292B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863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75D5C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75D5C5"/>
                </a:solidFill>
                <a:latin typeface="Hiragino Sans GB"/>
                <a:ea typeface="Hiragino Sans GB"/>
                <a:cs typeface="Hiragino Sans GB"/>
              </a:rPr>
              <a:t>RSI 需要程序修改被后续任务继承，并产生可复核的收益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D0ADA8-D4D1-40E0-ACA9-FA9017BB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8645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rPr>
              <a:t>物理模型、安全标准、最终评价任务与总预算保持固定；本轮无 RL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5BB71-A564-48F3-BC41-57D0A2ED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67475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rPr>
              <a:t>2026年6月仿真 · v3.2 · 公开基准验证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62D4CD-1DE8-4CE5-88E5-553B15B9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256854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9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5B6E8A-34BA-46F8-B20F-24A13FBC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52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5D5C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75D5C5"/>
                </a:solidFill>
                <a:latin typeface="Hiragino Sans GB"/>
                <a:ea typeface="Hiragino Sans GB"/>
                <a:cs typeface="Hiragino Sans GB"/>
              </a:rPr>
              <a:t>冻结研究设计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52F6D-AC76-49D4-B45D-87D1EEE9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85800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E5EDF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E5EDF7"/>
                </a:solidFill>
                <a:latin typeface="Hiragino Sans GB"/>
                <a:ea typeface="Hiragino Sans GB"/>
                <a:cs typeface="Hiragino Sans GB"/>
              </a:rPr>
              <a:t>优势归因所需的五组比较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EA6BB0-8F1F-4844-A206-384FA8D4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19225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526D"/>
          </a:solidFill>
          <a:ln xmlns:a="http://schemas.openxmlformats.org/drawingml/2006/main" w="0">
            <a:noFill/>
          </a:ln>
        </p:spPr>
      </p:sp>
      <p:graphicFrame>
        <p:nvGraphicFrame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48E008-3E84-47D5-A0E2-F3261E417073}"/>
              </a:ext>
            </a:extLst>
          </p:cNvPr>
          <p:cNvGraphicFramePr/>
          <p:nvPr/>
        </p:nvGraphicFramePr>
        <p:xfrm>
          <a:off xmlns:a="http://schemas.openxmlformats.org/drawingml/2006/main" x="666750" y="1762125"/>
          <a:ext xmlns:a="http://schemas.openxmlformats.org/drawingml/2006/main" cx="108585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4953000"/>
                <a:gridCol w="2476500"/>
              </a:tblGrid>
              <a:tr h="53975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组别</a:t>
                      </a:r>
                    </a:p>
                  </a:txBody>
                  <a:tcPr marL="95250" marR="95250" marT="9525" marB="9525" anchor="ctr">
                    <a:solidFill>
                      <a:srgbClr val="28465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检验的因素</a:t>
                      </a:r>
                    </a:p>
                  </a:txBody>
                  <a:tcPr marL="95250" marR="95250" marT="9525" marB="9525" anchor="ctr">
                    <a:solidFill>
                      <a:srgbClr val="28465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实际状态</a:t>
                      </a:r>
                    </a:p>
                  </a:txBody>
                  <a:tcPr marL="95250" marR="95250" marT="9525" marB="9525" anchor="ctr">
                    <a:solidFill>
                      <a:srgbClr val="28465F"/>
                    </a:solidFill>
                  </a:tcPr>
                </a:tc>
              </a:tr>
              <a:tr h="53975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自适应工程基线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常规纠偏与修复能解决多少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已执行，触发停止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</a:tr>
              <a:tr h="53975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固定流程＋共同历史</a:t>
                      </a:r>
                    </a:p>
                  </a:txBody>
                  <a:tcPr marL="95250" marR="95250" marT="9525" marB="9525" anchor="ctr">
                    <a:solidFill>
                      <a:srgbClr val="192D43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增加经验本身的收益</a:t>
                      </a:r>
                    </a:p>
                  </a:txBody>
                  <a:tcPr marL="95250" marR="95250" marT="9525" marB="9525" anchor="ctr">
                    <a:solidFill>
                      <a:srgbClr val="192D43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未执行</a:t>
                      </a:r>
                    </a:p>
                  </a:txBody>
                  <a:tcPr marL="95250" marR="95250" marT="9525" marB="9525" anchor="ctr">
                    <a:solidFill>
                      <a:srgbClr val="192D43"/>
                    </a:solidFill>
                  </a:tcPr>
                </a:tc>
              </a:tr>
              <a:tr h="53975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改进 F、固定 G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普通自动流程优化的收益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未执行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</a:tr>
              <a:tr h="53975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RSI：同时改进 F / G</a:t>
                      </a:r>
                    </a:p>
                  </a:txBody>
                  <a:tcPr marL="95250" marR="95250" marT="9525" marB="9525" anchor="ctr">
                    <a:solidFill>
                      <a:srgbClr val="192D43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G 对后续改进的贡献</a:t>
                      </a:r>
                    </a:p>
                  </a:txBody>
                  <a:tcPr marL="95250" marR="95250" marT="9525" marB="9525" anchor="ctr">
                    <a:solidFill>
                      <a:srgbClr val="192D43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未执行</a:t>
                      </a:r>
                    </a:p>
                  </a:txBody>
                  <a:tcPr marL="95250" marR="95250" marT="9525" marB="9525" anchor="ctr">
                    <a:solidFill>
                      <a:srgbClr val="192D43"/>
                    </a:solidFill>
                  </a:tcPr>
                </a:tc>
              </a:tr>
              <a:tr h="53975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每轮重置版本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跨轮继承是否必要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未执行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E954F1-CC4B-4ED1-BBF5-72986268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5305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75D5C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75D5C5"/>
                </a:solidFill>
                <a:latin typeface="Hiragino Sans GB"/>
                <a:ea typeface="Hiragino Sans GB"/>
                <a:cs typeface="Hiragino Sans GB"/>
              </a:rPr>
              <a:t>3 轮：每轮 4 个开发＋2 个验证；另设 6 个最终留出任务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D94B27-0248-4313-9181-0E3ED283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9597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rPr>
              <a:t>72 小时研究使用原始数据时间，与六月业务示范分别记账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59E9C6-088B-4A65-B41D-0BCB3E2F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67475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rPr>
              <a:t>2026年6月仿真 · v3.2 · 公开基准验证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AF6FAD-67A3-42BA-A780-25F4AAF0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767852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19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096733-C5D8-4103-8A5F-72B89F68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52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5D5C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75D5C5"/>
                </a:solidFill>
                <a:latin typeface="Hiragino Sans GB"/>
                <a:ea typeface="Hiragino Sans GB"/>
                <a:cs typeface="Hiragino Sans GB"/>
              </a:rPr>
              <a:t>真实研究状态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2D4FED-BDC0-4DE1-BFAD-F7B16B53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85800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E5EDF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E5EDF7"/>
                </a:solidFill>
                <a:latin typeface="Hiragino Sans GB"/>
                <a:ea typeface="Hiragino Sans GB"/>
                <a:cs typeface="Hiragino Sans GB"/>
              </a:rPr>
              <a:t>工程基线已解决可行任务，RSI 按规则停止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33E09E-39CC-4DCB-96E0-E6037592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19225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526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671A24-3282-45CB-818A-1E087277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75D5C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1">
                <a:solidFill>
                  <a:srgbClr val="75D5C5"/>
                </a:solidFill>
                <a:latin typeface="Hiragino Sans GB"/>
                <a:ea typeface="Hiragino Sans GB"/>
                <a:cs typeface="Hiragino Sans GB"/>
              </a:rPr>
              <a:t>开发任务：10 个直接合格；2 个为容量不足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29F7AF-AB1B-4D38-A990-08AAB581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09875"/>
            <a:ext cx="10572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E5EDF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E5EDF7"/>
                </a:solidFill>
                <a:latin typeface="Hiragino Sans GB"/>
                <a:ea typeface="Hiragino Sans GB"/>
                <a:cs typeface="Hiragino Sans GB"/>
              </a:rPr>
              <a:t>冻结根版本后揭示 6 个留出任务：5 个合格，1 个资源不足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D58C83-805B-4A86-980A-E82FFF18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528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526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66F0FA-5F1A-4602-9057-47D1BA4B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E9B6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E9B675"/>
                </a:solidFill>
                <a:latin typeface="Hiragino Sans GB"/>
                <a:ea typeface="Hiragino Sans GB"/>
                <a:cs typeface="Hiragino Sans GB"/>
              </a:rPr>
              <a:t>0 次新增模型调用 · 0 次程序晋升 · 未形成继承优势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5BC3AE-6021-46F0-A580-97187A7B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00625"/>
            <a:ext cx="1057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E5EDF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E5EDF7"/>
                </a:solidFill>
                <a:latin typeface="Hiragino Sans GB"/>
                <a:ea typeface="Hiragino Sans GB"/>
                <a:cs typeface="Hiragino Sans GB"/>
              </a:rPr>
              <a:t>每个 72 小时任务保留 288 次必需 AC 检查。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E5EDF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E5EDF7"/>
                </a:solidFill>
                <a:latin typeface="Hiragino Sans GB"/>
                <a:ea typeface="Hiragino Sans GB"/>
                <a:cs typeface="Hiragino Sans GB"/>
              </a:rPr>
              <a:t>额外搜索开销已为 0，当前任务不能证明 RSI 更高效。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D0C9D7-603E-4093-BFF5-2B14D4DE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67475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rPr>
              <a:t>2026年6月仿真 · v3.2 · 公开基准验证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1B88F5-C022-46A7-B7DD-7F654955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581430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19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B27741-2A90-485B-8D1E-15F207F1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52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5D5C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75D5C5"/>
                </a:solidFill>
                <a:latin typeface="Hiragino Sans GB"/>
                <a:ea typeface="Hiragino Sans GB"/>
                <a:cs typeface="Hiragino Sans GB"/>
              </a:rPr>
              <a:t>开发段操作筛查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5AE1C7-78B1-4F32-9D0C-E5D72B2A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85800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E5EDF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E5EDF7"/>
                </a:solidFill>
                <a:latin typeface="Hiragino Sans GB"/>
                <a:ea typeface="Hiragino Sans GB"/>
                <a:cs typeface="Hiragino Sans GB"/>
              </a:rPr>
              <a:t>操作空间有效，但四项改动收益有限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2B6715-E1BF-4213-ACFD-94926660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19225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526D"/>
          </a:solidFill>
          <a:ln xmlns:a="http://schemas.openxmlformats.org/drawingml/2006/main" w="0">
            <a:noFill/>
          </a:ln>
        </p:spPr>
      </p:sp>
      <p:graphicFrame>
        <p:nvGraphicFrame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6ED71D-7686-4B5D-8A13-3D2B2862E7F3}"/>
              </a:ext>
            </a:extLst>
          </p:cNvPr>
          <p:cNvGraphicFramePr/>
          <p:nvPr/>
        </p:nvGraphicFramePr>
        <p:xfrm>
          <a:off xmlns:a="http://schemas.openxmlformats.org/drawingml/2006/main" x="666750" y="1762125"/>
          <a:ext xmlns:a="http://schemas.openxmlformats.org/drawingml/2006/main" cx="108585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2571750"/>
                <a:gridCol w="2190750"/>
                <a:gridCol w="2095500"/>
              </a:tblGrid>
              <a:tr h="5238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配置</a:t>
                      </a:r>
                    </a:p>
                  </a:txBody>
                  <a:tcPr marL="95250" marR="95250" marT="9525" marB="9525" anchor="ctr">
                    <a:solidFill>
                      <a:srgbClr val="28465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配对节省 / 元</a:t>
                      </a:r>
                    </a:p>
                  </a:txBody>
                  <a:tcPr marL="95250" marR="95250" marT="9525" marB="9525" anchor="ctr">
                    <a:solidFill>
                      <a:srgbClr val="28465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比例</a:t>
                      </a:r>
                    </a:p>
                  </a:txBody>
                  <a:tcPr marL="95250" marR="95250" marT="9525" marB="9525" anchor="ctr">
                    <a:solidFill>
                      <a:srgbClr val="28465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MILP 次数</a:t>
                      </a:r>
                    </a:p>
                  </a:txBody>
                  <a:tcPr marL="95250" marR="95250" marT="9525" marB="9525" anchor="ctr">
                    <a:solidFill>
                      <a:srgbClr val="28465F"/>
                    </a:solidFill>
                  </a:tcPr>
                </a:tc>
              </a:tr>
              <a:tr h="5238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原工程基线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—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—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720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</a:tr>
              <a:tr h="5238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15 分钟重排</a:t>
                      </a:r>
                    </a:p>
                  </a:txBody>
                  <a:tcPr marL="95250" marR="95250" marT="9525" marB="9525" anchor="ctr">
                    <a:solidFill>
                      <a:srgbClr val="192D43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33.07</a:t>
                      </a:r>
                    </a:p>
                  </a:txBody>
                  <a:tcPr marL="95250" marR="95250" marT="9525" marB="9525" anchor="ctr">
                    <a:solidFill>
                      <a:srgbClr val="192D43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0.0418%</a:t>
                      </a:r>
                    </a:p>
                  </a:txBody>
                  <a:tcPr marL="95250" marR="95250" marT="9525" marB="9525" anchor="ctr">
                    <a:solidFill>
                      <a:srgbClr val="192D43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2,880</a:t>
                      </a:r>
                    </a:p>
                  </a:txBody>
                  <a:tcPr marL="95250" marR="95250" marT="9525" marB="9525" anchor="ctr">
                    <a:solidFill>
                      <a:srgbClr val="192D43"/>
                    </a:solidFill>
                  </a:tcPr>
                </a:tc>
              </a:tr>
              <a:tr h="5238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 小时重排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13.82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0.0175%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360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</a:tr>
              <a:tr h="5238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季节性朴素预测</a:t>
                      </a:r>
                    </a:p>
                  </a:txBody>
                  <a:tcPr marL="95250" marR="95250" marT="9525" marB="9525" anchor="ctr">
                    <a:solidFill>
                      <a:srgbClr val="192D43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2.87</a:t>
                      </a:r>
                    </a:p>
                  </a:txBody>
                  <a:tcPr marL="95250" marR="95250" marT="9525" marB="9525" anchor="ctr">
                    <a:solidFill>
                      <a:srgbClr val="192D43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0.0036%</a:t>
                      </a:r>
                    </a:p>
                  </a:txBody>
                  <a:tcPr marL="95250" marR="95250" marT="9525" marB="9525" anchor="ctr">
                    <a:solidFill>
                      <a:srgbClr val="192D43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720</a:t>
                      </a:r>
                    </a:p>
                  </a:txBody>
                  <a:tcPr marL="95250" marR="95250" marT="9525" marB="9525" anchor="ctr">
                    <a:solidFill>
                      <a:srgbClr val="192D43"/>
                    </a:solidFill>
                  </a:tcPr>
                </a:tc>
              </a:tr>
              <a:tr h="5238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25% 库存保护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−391.29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−0.4942%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720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12631D-D378-43E9-B131-1018C393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197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75D5C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75D5C5"/>
                </a:solidFill>
                <a:latin typeface="Hiragino Sans GB"/>
                <a:ea typeface="Hiragino Sans GB"/>
                <a:cs typeface="Hiragino Sans GB"/>
              </a:rPr>
              <a:t>10 个可行开发任务；均有行为差异、均通过安全与服务检查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6B3C5F-795F-4E05-8D33-7C6839FD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816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87121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rPr>
              <a:t>累计研究：16,704 次 AC / 5,976 次 MILP。未达到 1% 成本投入阈值。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rPr>
              <a:t>重排次数属于常规求解开销；四项筛查不证明所有改动均无效。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4D51F2-4BD7-4DF5-8207-EFCF1C64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67475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rPr>
              <a:t>2026年6月仿真 · v3.2 · 公开基准验证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7A27FA-01FD-464A-B157-3AAD9827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560940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19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AD00FA-EB13-40A8-A958-0C76BA32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52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5D5C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75D5C5"/>
                </a:solidFill>
                <a:latin typeface="Hiragino Sans GB"/>
                <a:ea typeface="Hiragino Sans GB"/>
                <a:cs typeface="Hiragino Sans GB"/>
              </a:rPr>
              <a:t>新增月度业务案例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FE5DA2-FDA8-4E8C-9C96-89C198A6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85800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E5EDF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E5EDF7"/>
                </a:solidFill>
                <a:latin typeface="Hiragino Sans GB"/>
                <a:ea typeface="Hiragino Sans GB"/>
                <a:cs typeface="Hiragino Sans GB"/>
              </a:rPr>
              <a:t>持续供需偏移的逐时证据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9CAB80-BD17-4F6F-8A88-F796C2D1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19225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526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176386-5237-4094-91D9-6FB7AC95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75D5C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75D5C5"/>
                </a:solidFill>
                <a:latin typeface="Hiragino Sans GB"/>
                <a:ea typeface="Hiragino Sans GB"/>
                <a:cs typeface="Hiragino Sans GB"/>
              </a:rPr>
              <a:t>第 2 日起至月末：负荷增加 28%，17–21 时增加 40%，光伏降至 55%</a:t>
            </a:r>
          </a:p>
        </p:txBody>
      </p:sp>
      <p:graphicFrame>
        <p:nvGraphicFrame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033E12-C946-40E9-90FF-A317BF3461E4}"/>
              </a:ext>
            </a:extLst>
          </p:cNvPr>
          <p:cNvGraphicFramePr/>
          <p:nvPr/>
        </p:nvGraphicFramePr>
        <p:xfrm>
          <a:off xmlns:a="http://schemas.openxmlformats.org/drawingml/2006/main" x="666750" y="2667000"/>
          <a:ext xmlns:a="http://schemas.openxmlformats.org/drawingml/2006/main" cx="108585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7620000"/>
              </a:tblGrid>
              <a:tr h="4572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诊断时刻</a:t>
                      </a:r>
                    </a:p>
                  </a:txBody>
                  <a:tcPr marL="95250" marR="95250" marT="9525" marB="9525" anchor="ctr">
                    <a:solidFill>
                      <a:srgbClr val="28465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北京时间 06-02 08:00</a:t>
                      </a:r>
                    </a:p>
                  </a:txBody>
                  <a:tcPr marL="95250" marR="95250" marT="9525" marB="9525" anchor="ctr">
                    <a:solidFill>
                      <a:srgbClr val="28465F"/>
                    </a:solidFill>
                  </a:tcPr>
                </a:tc>
              </a:tr>
              <a:tr h="4572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已揭示证据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124 条一小时提前量预测，最近七天窗口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</a:tr>
              <a:tr h="4572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平均残差</a:t>
                      </a:r>
                    </a:p>
                  </a:txBody>
                  <a:tcPr marL="95250" marR="95250" marT="9525" marB="9525" anchor="ctr">
                    <a:solidFill>
                      <a:srgbClr val="192D43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20.23 kW，相对偏差 11.19%</a:t>
                      </a:r>
                    </a:p>
                  </a:txBody>
                  <a:tcPr marL="95250" marR="95250" marT="9525" marB="9525" anchor="ctr">
                    <a:solidFill>
                      <a:srgbClr val="192D43"/>
                    </a:solidFill>
                  </a:tcPr>
                </a:tc>
              </a:tr>
              <a:tr h="4572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同号比例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75.00%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</a:tr>
              <a:tr h="4572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最新实值与发布值</a:t>
                      </a:r>
                    </a:p>
                  </a:txBody>
                  <a:tcPr marL="95250" marR="95250" marT="9525" marB="9525" anchor="ctr">
                    <a:solidFill>
                      <a:srgbClr val="192D43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384.93 kW / 143.85 kW</a:t>
                      </a:r>
                    </a:p>
                  </a:txBody>
                  <a:tcPr marL="95250" marR="95250" marT="9525" marB="9525" anchor="ctr">
                    <a:solidFill>
                      <a:srgbClr val="192D43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416B70-0704-4662-8EFE-DADFA6F7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9112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E9B6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E9B675"/>
                </a:solidFill>
                <a:latin typeface="Hiragino Sans GB"/>
                <a:ea typeface="Hiragino Sans GB"/>
                <a:cs typeface="Hiragino Sans GB"/>
              </a:rPr>
              <a:t>规则方案累计过载 30 分钟，修复未完全解决，判为不合格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6FA187-2715-4C27-8251-5FCC5D6C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5787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rPr>
              <a:t>在线 F 在同一时刻切换校正并加密重排；动态降额未实现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4A0DE4-596C-47FB-B66E-8E185772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67475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rPr>
              <a:t>2026年6月仿真 · v3.2 · 公开基准验证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5299A1-35B3-4680-A2E1-4100C9AC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135740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19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C5E31F-D58F-4879-A6D8-24C9F8A0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52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5D5C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75D5C5"/>
                </a:solidFill>
                <a:latin typeface="Hiragino Sans GB"/>
                <a:ea typeface="Hiragino Sans GB"/>
                <a:cs typeface="Hiragino Sans GB"/>
              </a:rPr>
              <a:t>共同工程工具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ABD60A-E584-4C0B-A84A-4AEFE2C8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85800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E5EDF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E5EDF7"/>
                </a:solidFill>
                <a:latin typeface="Hiragino Sans GB"/>
                <a:ea typeface="Hiragino Sans GB"/>
                <a:cs typeface="Hiragino Sans GB"/>
              </a:rPr>
              <a:t>滚动预测校正的实际经营比较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30C84B-C4D7-423A-948C-520E2576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19225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526D"/>
          </a:solidFill>
          <a:ln xmlns:a="http://schemas.openxmlformats.org/drawingml/2006/main" w="0">
            <a:noFill/>
          </a:ln>
        </p:spPr>
      </p:sp>
      <p:graphicFrame>
        <p:nvGraphicFrame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BD6881-27FA-4B88-B944-BC66BA98178D}"/>
              </a:ext>
            </a:extLst>
          </p:cNvPr>
          <p:cNvGraphicFramePr/>
          <p:nvPr/>
        </p:nvGraphicFramePr>
        <p:xfrm>
          <a:off xmlns:a="http://schemas.openxmlformats.org/drawingml/2006/main" x="666750" y="1905000"/>
          <a:ext xmlns:a="http://schemas.openxmlformats.org/drawingml/2006/main" cx="10858500" cy="2238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2333625"/>
                <a:gridCol w="2333625"/>
                <a:gridCol w="2095500"/>
                <a:gridCol w="1619250"/>
              </a:tblGrid>
              <a:tr h="559594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调度方案</a:t>
                      </a:r>
                    </a:p>
                  </a:txBody>
                  <a:tcPr marL="95250" marR="95250" marT="9525" marB="9525" anchor="ctr">
                    <a:solidFill>
                      <a:srgbClr val="28465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原始 / 元</a:t>
                      </a:r>
                    </a:p>
                  </a:txBody>
                  <a:tcPr marL="95250" marR="95250" marT="9525" marB="9525" anchor="ctr">
                    <a:solidFill>
                      <a:srgbClr val="28465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校正 / 元</a:t>
                      </a:r>
                    </a:p>
                  </a:txBody>
                  <a:tcPr marL="95250" marR="95250" marT="9525" marB="9525" anchor="ctr">
                    <a:solidFill>
                      <a:srgbClr val="28465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节省 / 元</a:t>
                      </a:r>
                    </a:p>
                  </a:txBody>
                  <a:tcPr marL="95250" marR="95250" marT="9525" marB="9525" anchor="ctr">
                    <a:solidFill>
                      <a:srgbClr val="28465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比例</a:t>
                      </a:r>
                    </a:p>
                  </a:txBody>
                  <a:tcPr marL="95250" marR="95250" marT="9525" marB="9525" anchor="ctr">
                    <a:solidFill>
                      <a:srgbClr val="28465F"/>
                    </a:solidFill>
                  </a:tcPr>
                </a:tc>
              </a:tr>
              <a:tr h="559594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规则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108,634.25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108,634.25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未同时合格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不可比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</a:tr>
              <a:tr h="559594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确定性 MPC</a:t>
                      </a:r>
                    </a:p>
                  </a:txBody>
                  <a:tcPr marL="95250" marR="95250" marT="9525" marB="9525" anchor="ctr">
                    <a:solidFill>
                      <a:srgbClr val="192D43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108,171.52</a:t>
                      </a:r>
                    </a:p>
                  </a:txBody>
                  <a:tcPr marL="95250" marR="95250" marT="9525" marB="9525" anchor="ctr">
                    <a:solidFill>
                      <a:srgbClr val="192D43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108,172.98</a:t>
                      </a:r>
                    </a:p>
                  </a:txBody>
                  <a:tcPr marL="95250" marR="95250" marT="9525" marB="9525" anchor="ctr">
                    <a:solidFill>
                      <a:srgbClr val="192D43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-1.46</a:t>
                      </a:r>
                    </a:p>
                  </a:txBody>
                  <a:tcPr marL="95250" marR="95250" marT="9525" marB="9525" anchor="ctr">
                    <a:solidFill>
                      <a:srgbClr val="192D43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-0.001%</a:t>
                      </a:r>
                    </a:p>
                  </a:txBody>
                  <a:tcPr marL="95250" marR="95250" marT="9525" marB="9525" anchor="ctr">
                    <a:solidFill>
                      <a:srgbClr val="192D43"/>
                    </a:solidFill>
                  </a:tcPr>
                </a:tc>
              </a:tr>
              <a:tr h="559594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情景 MPC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108,415.78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108,261.14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154.65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725" b="0">
                          <a:solidFill>
                            <a:srgbClr val="E5EDF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0.143%</a:t>
                      </a:r>
                    </a:p>
                  </a:txBody>
                  <a:tcPr marL="95250" marR="95250" marT="9525" marB="9525" anchor="ctr">
                    <a:solidFill>
                      <a:srgbClr val="14273C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320CE1-16A8-4E94-A2CD-A2D89A9E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386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75D5C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75D5C5"/>
                </a:solidFill>
                <a:latin typeface="Hiragino Sans GB"/>
                <a:ea typeface="Hiragino Sans GB"/>
                <a:cs typeface="Hiragino Sans GB"/>
              </a:rPr>
              <a:t>同一整月输入、合同与源码，仅改变各方案共享的预测工具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464DB8-9A39-4418-A998-41DDBD78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482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E5EDF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E5EDF7"/>
                </a:solidFill>
                <a:latin typeface="Hiragino Sans GB"/>
                <a:ea typeface="Hiragino Sans GB"/>
                <a:cs typeface="Hiragino Sans GB"/>
              </a:rPr>
              <a:t>校正从本次运行开始参与优化，按发布时间使用已揭示残差。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E5EDF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E5EDF7"/>
                </a:solidFill>
                <a:latin typeface="Hiragino Sans GB"/>
                <a:ea typeface="Hiragino Sans GB"/>
                <a:cs typeface="Hiragino Sans GB"/>
              </a:rPr>
              <a:t>规则调度不读取未来预测，安全检查保持完整。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A235ED-784E-4497-A1A0-0A1B381F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19775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rPr>
              <a:t>业务账本单列：8645 AC / 1440 MILP，8645 AC / 1440 MILP。模型调用 0。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2BCEB8-24E7-4A65-86C2-02A59481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67475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rPr>
              <a:t>2026年6月仿真 · v3.2 · 公开基准验证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51D7B0-5016-402E-822A-2352A9E0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518366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D19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AEA2AD-BC4F-4825-8DD7-7CE7E456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52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5D5C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75D5C5"/>
                </a:solidFill>
                <a:latin typeface="Hiragino Sans GB"/>
                <a:ea typeface="Hiragino Sans GB"/>
                <a:cs typeface="Hiragino Sans GB"/>
              </a:rPr>
              <a:t>交付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93BD06-D118-4185-AECA-EEF33CD4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85800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E5EDF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E5EDF7"/>
                </a:solidFill>
                <a:latin typeface="Hiragino Sans GB"/>
                <a:ea typeface="Hiragino Sans GB"/>
                <a:cs typeface="Hiragino Sans GB"/>
              </a:rPr>
              <a:t>在线回放与本机复算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3A3937-D44B-4254-84E5-03E8BBDE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19225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526D"/>
          </a:solidFill>
          <a:ln xmlns:a="http://schemas.openxmlformats.org/drawingml/2006/main" w="0">
            <a:noFill/>
          </a:ln>
        </p:spPr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17732E-4449-420A-977B-1665223220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5f7ad2a56d426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95910" y="1647825"/>
            <a:ext cx="7200181" cy="40481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4632C2-4B75-421A-B48E-95059E97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1025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75D5C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75D5C5"/>
                </a:solidFill>
                <a:latin typeface="Hiragino Sans GB"/>
                <a:ea typeface="Hiragino Sans GB"/>
                <a:cs typeface="Hiragino Sans GB"/>
              </a:rPr>
              <a:t>在线：六月回放、逐时工程 F 与异常证据；本机：参数、导入与复算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58A10E-A43B-4C68-87F3-5406E29B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67475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rPr>
              <a:t>2026年6月仿真 · v3.2 · 公开基准验证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E7D02E-BDEA-45B4-8C4D-3A723759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9BB0C9"/>
                </a:solidFill>
                <a:latin typeface="Hiragino Sans GB"/>
                <a:ea typeface="Hiragino Sans GB"/>
                <a:cs typeface="Hiragino Sans GB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073126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2026-10-08T04:46:12.8250000Z</dcterms:created>
  <dcterms:modified xsi:type="dcterms:W3CDTF">2026-10-08T04:46:12.8250000Z</dcterms:modified>
</coreProperties>
</file>