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29ddceeb2a34fbc" /><Relationship Type="http://schemas.openxmlformats.org/officeDocument/2006/relationships/extended-properties" Target="/docProps/app.xml" Id="Rfa5e8916e06c44fe" /><Relationship Type="http://schemas.openxmlformats.org/officeDocument/2006/relationships/officeDocument" Target="/ppt/presentation.xml" Id="Rf8c3bea17c8543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a0d2bb49c6486f"/>
  </p:sldMasterIdLst>
  <p:notesMasterIdLst>
    <p:notesMasterId xmlns:r="http://schemas.openxmlformats.org/officeDocument/2006/relationships" r:id="R1c22e8b41b2649ab"/>
  </p:notesMasterIdLst>
  <p:sldIdLst>
    <p:sldId xmlns:r="http://schemas.openxmlformats.org/officeDocument/2006/relationships" id="256" r:id="R7cc00256fd59480d"/>
    <p:sldId xmlns:r="http://schemas.openxmlformats.org/officeDocument/2006/relationships" id="257" r:id="Ree547a9e34424ab7"/>
    <p:sldId xmlns:r="http://schemas.openxmlformats.org/officeDocument/2006/relationships" id="258" r:id="R7b6fe50f4fe7469a"/>
    <p:sldId xmlns:r="http://schemas.openxmlformats.org/officeDocument/2006/relationships" id="259" r:id="R165e4c6f3cb24503"/>
    <p:sldId xmlns:r="http://schemas.openxmlformats.org/officeDocument/2006/relationships" id="260" r:id="R9c61af31db79405b"/>
    <p:sldId xmlns:r="http://schemas.openxmlformats.org/officeDocument/2006/relationships" id="261" r:id="Rc1042118e6c447de"/>
    <p:sldId xmlns:r="http://schemas.openxmlformats.org/officeDocument/2006/relationships" id="262" r:id="R8d8b5c34d14b4446"/>
    <p:sldId xmlns:r="http://schemas.openxmlformats.org/officeDocument/2006/relationships" id="263" r:id="R0b463ea38fe1416f"/>
    <p:sldId xmlns:r="http://schemas.openxmlformats.org/officeDocument/2006/relationships" id="264" r:id="R4295455c3d1d4653"/>
    <p:sldId xmlns:r="http://schemas.openxmlformats.org/officeDocument/2006/relationships" id="265" r:id="R62235dafaf0c47c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ed2d9ab47143df" /><Relationship Type="http://schemas.openxmlformats.org/officeDocument/2006/relationships/slideMaster" Target="/ppt/slideMasters/slideMaster1.xml" Id="R5ba0d2bb49c6486f" /><Relationship Type="http://schemas.openxmlformats.org/officeDocument/2006/relationships/notesMaster" Target="/ppt/notesMasters/notesMaster1.xml" Id="R1c22e8b41b2649ab" /><Relationship Type="http://schemas.openxmlformats.org/officeDocument/2006/relationships/presProps" Target="/ppt/presProps.xml" Id="Rcae61b6f4d8a420d" /><Relationship Type="http://schemas.openxmlformats.org/officeDocument/2006/relationships/tableStyles" Target="/ppt/tableStyles.xml" Id="R08bec092fc7d4e06" /><Relationship Type="http://schemas.openxmlformats.org/officeDocument/2006/relationships/slide" Target="/ppt/slides/slide1.xml" Id="R7cc00256fd59480d" /><Relationship Type="http://schemas.openxmlformats.org/officeDocument/2006/relationships/slide" Target="/ppt/slides/slide2.xml" Id="Ree547a9e34424ab7" /><Relationship Type="http://schemas.openxmlformats.org/officeDocument/2006/relationships/slide" Target="/ppt/slides/slide3.xml" Id="R7b6fe50f4fe7469a" /><Relationship Type="http://schemas.openxmlformats.org/officeDocument/2006/relationships/slide" Target="/ppt/slides/slide4.xml" Id="R165e4c6f3cb24503" /><Relationship Type="http://schemas.openxmlformats.org/officeDocument/2006/relationships/slide" Target="/ppt/slides/slide5.xml" Id="R9c61af31db79405b" /><Relationship Type="http://schemas.openxmlformats.org/officeDocument/2006/relationships/slide" Target="/ppt/slides/slide6.xml" Id="Rc1042118e6c447de" /><Relationship Type="http://schemas.openxmlformats.org/officeDocument/2006/relationships/slide" Target="/ppt/slides/slide7.xml" Id="R8d8b5c34d14b4446" /><Relationship Type="http://schemas.openxmlformats.org/officeDocument/2006/relationships/slide" Target="/ppt/slides/slide8.xml" Id="R0b463ea38fe1416f" /><Relationship Type="http://schemas.openxmlformats.org/officeDocument/2006/relationships/slide" Target="/ppt/slides/slide9.xml" Id="R4295455c3d1d4653" /><Relationship Type="http://schemas.openxmlformats.org/officeDocument/2006/relationships/slide" Target="/ppt/slides/slide10.xml" Id="R62235dafaf0c47c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c7e57ebb0748a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aa9c67a645f4197" /><Relationship Type="http://schemas.openxmlformats.org/officeDocument/2006/relationships/notesMaster" Target="/ppt/notesMasters/notesMaster1.xml" Id="R546d621064ec423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717f9fe768944a2" /><Relationship Type="http://schemas.openxmlformats.org/officeDocument/2006/relationships/notesMaster" Target="/ppt/notesMasters/notesMaster1.xml" Id="Rd3ee0e51be0d4f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9e2144e80c4724" /><Relationship Type="http://schemas.openxmlformats.org/officeDocument/2006/relationships/notesMaster" Target="/ppt/notesMasters/notesMaster1.xml" Id="Rb6811dccaea04e9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8abc3914cf4aa8" /><Relationship Type="http://schemas.openxmlformats.org/officeDocument/2006/relationships/notesMaster" Target="/ppt/notesMasters/notesMaster1.xml" Id="Ra6620d9740a54f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19f1a827a34965" /><Relationship Type="http://schemas.openxmlformats.org/officeDocument/2006/relationships/notesMaster" Target="/ppt/notesMasters/notesMaster1.xml" Id="R95d5f0e6163e4d4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210dc9433d64e4e" /><Relationship Type="http://schemas.openxmlformats.org/officeDocument/2006/relationships/notesMaster" Target="/ppt/notesMasters/notesMaster1.xml" Id="Rc0c3f5e9353146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076c6273ebc41ef" /><Relationship Type="http://schemas.openxmlformats.org/officeDocument/2006/relationships/notesMaster" Target="/ppt/notesMasters/notesMaster1.xml" Id="Rf3f1cf89422b4b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d83225250d48b3" /><Relationship Type="http://schemas.openxmlformats.org/officeDocument/2006/relationships/notesMaster" Target="/ppt/notesMasters/notesMaster1.xml" Id="R6af2b72d3c4a431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ceb00a6dc644f6" /><Relationship Type="http://schemas.openxmlformats.org/officeDocument/2006/relationships/notesMaster" Target="/ppt/notesMasters/notesMaster1.xml" Id="Re5ebb0df04ef40d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54e8fd81db4698" /><Relationship Type="http://schemas.openxmlformats.org/officeDocument/2006/relationships/notesMaster" Target="/ppt/notesMasters/notesMaster1.xml" Id="R0fe5567f059f48c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证据字段：monthly summary / source mapping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results/v32/jobs/6623649e55247c05-summary.json SHA256 1e4a8b5e0169ca8e3eac4be40202cd3fdf160a5057a680fe0adb28a7e2d128db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DbCL1.0。原始2016曲线映射到2026场景，非实测。公开回放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证据字段：June scene screenshot</a:t>
            </a:r>
          </a:p>
          <a:p xmlns:a="http://schemas.openxmlformats.org/drawingml/2006/main">
            <a:r>
              <a:t>示意建筑布局；当前视觉与参考站仍有差距，保留视觉验收记录。</a:t>
            </a:r>
          </a:p>
          <a:p xmlns:a="http://schemas.openxmlformats.org/drawingml/2006/main">
            <a:r>
              <a:t>results/v32/jobs/6623649e55247c05-summary.json SHA256 1e4a8b5e0169ca8e3eac4be40202cd3fdf160a5057a680fe0adb28a7e2d128db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DbCL1.0。原始2016曲线映射到2026场景，非实测。公开回放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证据字段：task.period / storage / ev / provenance / query_cost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results/v32/jobs/6623649e55247c05-summary.json SHA256 1e4a8b5e0169ca8e3eac4be40202cd3fdf160a5057a680fe0adb28a7e2d128db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DbCL1.0。原始2016曲线映射到2026场景，非实测。公开回放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证据字段：explanation.rows / saving_components</a:t>
            </a:r>
          </a:p>
          <a:p xmlns:a="http://schemas.openxmlformats.org/drawingml/2006/main">
            <a:r>
              <a:t>未计算企业利润或真实现场收益。采用相同服务、安全与初末库存条件。</a:t>
            </a:r>
          </a:p>
          <a:p xmlns:a="http://schemas.openxmlformats.org/drawingml/2006/main">
            <a:r>
              <a:t>results/v32/jobs/6623649e55247c05-summary.json SHA256 1e4a8b5e0169ca8e3eac4be40202cd3fdf160a5057a680fe0adb28a7e2d128db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DbCL1.0。原始2016曲线映射到2026场景，非实测。公开回放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证据字段：explanation.episodes[method=mpc]</a:t>
            </a:r>
          </a:p>
          <a:p xmlns:a="http://schemas.openxmlformats.org/drawingml/2006/main">
            <a:r>
              <a:t>本次六月轨迹没有修复事件，不将正常调度包装为异常修复。</a:t>
            </a:r>
          </a:p>
          <a:p xmlns:a="http://schemas.openxmlformats.org/drawingml/2006/main">
            <a:r>
              <a:t>results/v32/jobs/6623649e55247c05-summary.json SHA256 1e4a8b5e0169ca8e3eac4be40202cd3fdf160a5057a680fe0adb28a7e2d128db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DbCL1.0。原始2016曲线映射到2026场景，非实测。公开回放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证据字段：city_programs / city_improvements / fixed experiment manifest</a:t>
            </a:r>
          </a:p>
          <a:p xmlns:a="http://schemas.openxmlformats.org/drawingml/2006/main">
            <a:r>
              <a:t>框架实现和合成继承测试不等于实际RSI优势。</a:t>
            </a:r>
          </a:p>
          <a:p xmlns:a="http://schemas.openxmlformats.org/drawingml/2006/main">
            <a:r>
              <a:t>results/v32/jobs/6623649e55247c05-summary.json SHA256 1e4a8b5e0169ca8e3eac4be40202cd3fdf160a5057a680fe0adb28a7e2d128db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DbCL1.0。原始2016曲线映射到2026场景，非实测。公开回放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 manifest / result</a:t>
            </a:r>
          </a:p>
          <a:p xmlns:a="http://schemas.openxmlformats.org/drawingml/2006/main">
            <a:r>
              <a:t>其余四组未执行，不能把缺失数据画成零成本优势。</a:t>
            </a:r>
          </a:p>
          <a:p xmlns:a="http://schemas.openxmlformats.org/drawingml/2006/main">
            <a:r>
              <a:t>results/v32/jobs/6623649e55247c05-summary.json SHA256 1e4a8b5e0169ca8e3eac4be40202cd3fdf160a5057a680fe0adb28a7e2d128db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DbCL1.0。原始2016曲线映射到2026场景，非实测。公开回放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证据字段：improvements/4de87f7924b021d8/result / admission / holdout</a:t>
            </a:r>
          </a:p>
          <a:p xmlns:a="http://schemas.openxmlformats.org/drawingml/2006/main">
            <a:r>
              <a:t>停止条件在调用前冻结；没有伪造模型候选或进化动画。</a:t>
            </a:r>
          </a:p>
          <a:p xmlns:a="http://schemas.openxmlformats.org/drawingml/2006/main">
            <a:r>
              <a:t>results/v32/jobs/6623649e55247c05-summary.json SHA256 1e4a8b5e0169ca8e3eac4be40202cd3fdf160a5057a680fe0adb28a7e2d128db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DbCL1.0。原始2016曲线映射到2026场景，非实测。公开回放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证据字段：opportunity/7a6aa4e97c225bc8/result</a:t>
            </a:r>
          </a:p>
          <a:p xmlns:a="http://schemas.openxmlformats.org/drawingml/2006/main">
            <a:r>
              <a:t>新增11520 AC、4680 MILP；不使用验证或最终留出任务。</a:t>
            </a:r>
          </a:p>
          <a:p xmlns:a="http://schemas.openxmlformats.org/drawingml/2006/main">
            <a:r>
              <a:t>results/v32/jobs/6623649e55247c05-summary.json SHA256 1e4a8b5e0169ca8e3eac4be40202cd3fdf160a5057a680fe0adb28a7e2d128db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DbCL1.0。原始2016曲线映射到2026场景，非实测。公开回放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证据字段：public replay manifest / offline package</a:t>
            </a:r>
          </a:p>
          <a:p xmlns:a="http://schemas.openxmlformats.org/drawingml/2006/main">
            <a:r>
              <a:t>下一步研究需有明确工程难题和新的未揭示评价任务；本轮不宣称RSI优势。</a:t>
            </a:r>
          </a:p>
          <a:p xmlns:a="http://schemas.openxmlformats.org/drawingml/2006/main">
            <a:r>
              <a:t>results/v32/jobs/6623649e55247c05-summary.json SHA256 1e4a8b5e0169ca8e3eac4be40202cd3fdf160a5057a680fe0adb28a7e2d128db</a:t>
            </a:r>
          </a:p>
          <a:p xmlns:a="http://schemas.openxmlformats.org/drawingml/2006/main">
            <a:r>
              <a:t>results/v32/improvements/4de87f7924b021d8/result.json SHA256 3d7e1bfbabeb55fd41f0c0696eaaca947950262e877b83d133505920d06671f3</a:t>
            </a:r>
          </a:p>
          <a:p xmlns:a="http://schemas.openxmlformats.org/drawingml/2006/main">
            <a:r>
              <a:t>results/v32/opportunity/7a6aa4e97c225bc8/result.json SHA256 1af53221b4745a51325ccf8e66133f1253ae2db7cd50b9ea681c18658d39c008</a:t>
            </a:r>
          </a:p>
          <a:p xmlns:a="http://schemas.openxmlformats.org/drawingml/2006/main">
            <a:r>
              <a:t>SimBench https://simbench.de/en/download/datasets/ ODbL1.0 / DbCL1.0。原始2016曲线映射到2026场景，非实测。公开回放 https://jinyh.github.io/energy-campus/ 。月度示范与72小时RSI研究分别记账。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0da26c90ae4aa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3daebae2d54922" /><Relationship Type="http://schemas.openxmlformats.org/officeDocument/2006/relationships/slideLayout" Target="/ppt/slideLayouts/slideLayout1.xml" Id="R69e3cbd7930b4c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e3cbd7930b4c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193e7bd3bb4f90" /><Relationship Type="http://schemas.openxmlformats.org/officeDocument/2006/relationships/notesSlide" Target="/ppt/notesSlides/notesSlide1.xml" Id="R06b3851baeac48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00fcf559df4889" /><Relationship Type="http://schemas.openxmlformats.org/officeDocument/2006/relationships/image" Target="/ppt/media/image.jpeg" Id="R88637f9dbfd841c4" /><Relationship Type="http://schemas.openxmlformats.org/officeDocument/2006/relationships/notesSlide" Target="/ppt/notesSlides/notesSlide2.xml" Id="R5250c26b2488492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cf338e8751466c" /><Relationship Type="http://schemas.openxmlformats.org/officeDocument/2006/relationships/notesSlide" Target="/ppt/notesSlides/notesSlide3.xml" Id="Rb796e8e1375d434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65b9f70904883" /><Relationship Type="http://schemas.openxmlformats.org/officeDocument/2006/relationships/notesSlide" Target="/ppt/notesSlides/notesSlide4.xml" Id="R2a5cdde3b63940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20893ecb2146b0" /><Relationship Type="http://schemas.openxmlformats.org/officeDocument/2006/relationships/notesSlide" Target="/ppt/notesSlides/notesSlide5.xml" Id="R84fbc4ddf4e14dc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9a06c1f90d4e96" /><Relationship Type="http://schemas.openxmlformats.org/officeDocument/2006/relationships/notesSlide" Target="/ppt/notesSlides/notesSlide6.xml" Id="Re81a5239ddcb4b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6e508f9de42cc" /><Relationship Type="http://schemas.openxmlformats.org/officeDocument/2006/relationships/notesSlide" Target="/ppt/notesSlides/notesSlide7.xml" Id="Rc59e3cfa772c49e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5fd84e33ea4930" /><Relationship Type="http://schemas.openxmlformats.org/officeDocument/2006/relationships/notesSlide" Target="/ppt/notesSlides/notesSlide8.xml" Id="R4648f349326940f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b9d8c9ca9f4aa0" /><Relationship Type="http://schemas.openxmlformats.org/officeDocument/2006/relationships/notesSlide" Target="/ppt/notesSlides/notesSlide9.xml" Id="Rde13397b4442406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810e62d5844e4a" /><Relationship Type="http://schemas.openxmlformats.org/officeDocument/2006/relationships/image" Target="/ppt/media/image2.jpeg" Id="Rc73ed6c20b794ea4" /><Relationship Type="http://schemas.openxmlformats.org/officeDocument/2006/relationships/notesSlide" Target="/ppt/notesSlides/notesSlide10.xml" Id="R129dd104f4d24bc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577FD4-3D1E-4E8D-82B2-8BB6759AA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光伏 · 储能 · 充电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00903D-BA61-4D24-B0E4-502CEE012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园区能源运营演示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D01AD9-82EB-44DC-9B30-476A0398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E6044B-005B-4C40-94D7-C65535075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143125"/>
            <a:ext cx="10572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41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2026 年 6 月仿真场景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4CA84E-4C1B-4F36-959E-2AAB5816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813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3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连续整月回放、同口径方案比较、可追溯程序记录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E9FBDC-D65D-458E-A0BC-B201798FB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38650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25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https://jinyh.github.io/energy-campus/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412B07-1FC1-4B75-A873-0C3D87A40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768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基于 SimBench 2016 年历史曲线；RSI 优势待验证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A5B71D-BBE0-4782-881A-9066AE17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406DDE-27A3-4D1F-A530-57C5E6EB2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49624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CF0396-FC32-4AE3-BF57-0927589C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在线演示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CF9514-FBC5-48F4-8AE7-F473019D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场景主导的运行回放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96B3534-FED4-4323-83A2-1125D43C9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637f9dbfd841c4"/>
          <a:stretch xmlns:a="http://schemas.openxmlformats.org/drawingml/2006/main"/>
        </p:blipFill>
        <p:spPr>
          <a:xfrm xmlns:a="http://schemas.openxmlformats.org/drawingml/2006/main">
            <a:off x="2497667" y="1647825"/>
            <a:ext cx="7196667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E5FC9C-431E-4064-A00C-DCFB1C40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578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日期与方案共用播放时钟；日景、夜景、设备近景与线路图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B1180-5920-4AF3-994B-1279F22A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9EE9CE2-0C45-45C7-B978-7C664E869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1699708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61B7D1-5B40-4163-9966-6E8D3FCF0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数据口径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FC4216-3BEC-4F9B-BBF5-78E84C266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月度场景与结算边界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38FD6-0479-4D24-B62A-25FC6E5FB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7814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8477250"/>
              </a:tblGrid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项目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本次口径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月份与时间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2026 年 6 月；2,880 × 15 分钟；Europe/Berlin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数据来源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SimBench 2016 年同月及此前连续历史；保留时间映射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设备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100 kW / 400 kWh；8 个 22 kW 充电终端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连续状态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跨日保留 SOC 和车辆需求；初末库存均为 200 kWh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合同与成本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固定分时合同；购电费 − 上网收入 + 储能折损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40204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计算账本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三基线 8,640 次 AC / 1,440 次 MILP；模型调用 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A814EF-2B02-44C9-9BBB-572575E5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在线版只回放完整六月结果；本机版负责其他月份与重算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06BF03-32E9-4E84-9A84-2DB28238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F179A2-C9BC-4A8B-84C3-0E40A1301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8553076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F2A8F49-7687-4E87-AF9C-817935F3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整月优势比较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B0406D-C3C1-4751-8E19-670EAC469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三种方案均合格，滚动优化节省 480.12 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68A92E-7336-411F-AA05-4D693060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381250"/>
                <a:gridCol w="2381250"/>
                <a:gridCol w="1524000"/>
                <a:gridCol w="1714500"/>
              </a:tblGrid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方案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运行成本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比规则节省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节省比例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安全与履约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78,871.91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78,391.79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480.12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0.609%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7150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情景滚动优化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78,533.90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338.01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0.429%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通过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DBA95C-272E-4F61-8388-FE70B7F3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52925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滚动优化的费用分解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4C2A46-F935-4157-B5AF-8DA973315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924425"/>
            <a:ext cx="10477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少付购电费 488.73 − 少收上网收入 9.61 + 少计折损 1.00</a:t>
            </a:r>
          </a:p>
          <a:p xmlns:a="http://schemas.openxmlformats.org/drawingml/2006/main">
            <a:pPr algn="l"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= 全月净节省 480.12 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0BF185-11AD-46EC-825C-A98953F3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905500"/>
            <a:ext cx="10572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97826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属于工程调度收益；本月未观察到情景优化的可靠性优势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94B17A-902F-415E-BCDB-ED0483FE1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68C6F4-58B8-4FEC-9438-AEAB96055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2771586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FE0EBA-F478-4E24-BE2B-3E84B107B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机理讲解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57FCE0-514A-4C3A-B5A6-E7F597BA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调度如何改变同一时刻的充电行为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60392F-CE71-479F-B89D-DD58FC49D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22098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19500"/>
                <a:gridCol w="2428875"/>
                <a:gridCol w="2428875"/>
                <a:gridCol w="2381250"/>
              </a:tblGrid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6 月 1 日 08:30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规则调度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滚动优化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情景优化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充电请求 / 实际 kW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176 / 176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22 / 22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关口购电 kW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432.92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254.89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277.09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524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储能 kW / 期初 kWh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800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 / 400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371D48-D098-481D-9D82-134540B2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34340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08:00 已发布计划 → 在终端功率与截止需求内分配充电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8752D-1F9F-4CBB-8BDD-22C26297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38725"/>
            <a:ext cx="10572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滚动优化将部分需求留给后续时段，全月逐车截止履约仍通过。</a:t>
            </a:r>
          </a:p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该时段用于事后讲解；收益由整月账本确认。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860847-AE29-4DB2-9672-8645FE1D5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1D874B-4170-42B1-917A-207523549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3243966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157DED-F79B-4409-B8A9-EFCA2D513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机制边界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7905FD-F6D0-4AFD-A62C-498B60700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预测、调度与自我改进的职责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012EDE-AD80-4F1B-8C56-91854E2D4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5095875"/>
                <a:gridCol w="3762375"/>
              </a:tblGrid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层次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负责什么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当前证据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预测工具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朴素 / GBDT / 已揭示残差校正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各方法共享信息；固定电价为已知合同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工程调度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按 SOC、车辆需求和设备权限安排动作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真实物理执行与同表计结算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处理程序 F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修改诊断、工具顺序、参数、复用与停止条件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受限表达式执行；行为差异检查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6286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改进程序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修改证据选择、假设排序与验证预算分配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下一轮使用；需固定 G 组检验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7ABAC-32DA-4124-A592-836E7D9D1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863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7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RSI 需要程序修改被后续任务继承，并产生可复核的收益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FE915A-5D4F-4BDC-B299-50F25BF0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86450"/>
            <a:ext cx="105727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7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物理模型、安全标准、最终评价任务与总预算保持固定；本轮无 RL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B9D8C5-667F-4853-AF6B-983F7122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C52E473-486D-4BA8-9C58-202F6BAA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33126645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5155A1-A296-4AD7-B13E-032A550B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冻结研究设计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3B9521-9C09-4C1B-A687-F0C4E70F5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优势归因所需的五组比较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D88381-B0D0-4E7C-919C-4EB4E38D2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238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4953000"/>
                <a:gridCol w="2476500"/>
              </a:tblGrid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组别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检验的因素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实际状态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自适应工程基线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常规纠偏与修复能解决多少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已执行，触发停止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固定流程＋共同历史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增加经验本身的收益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改进 F、固定 G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普通自动流程优化的收益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RSI：同时改进 F / G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G 对后续改进的贡献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39750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每轮重置版本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跨轮继承是否必要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未执行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34F549-5815-4384-9101-F82B01C55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3530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3 轮：每轮 4 个开发＋2 个验证；另设 6 个最终留出任务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6AA825-98CF-439B-A487-171A75A58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95975"/>
            <a:ext cx="10572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72 小时研究使用原始数据时间，与六月业务示范分别记账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E1D0F0-3056-4B42-9A3A-E095B473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AD9AC1-08A1-47D2-BFA6-4086A0479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918019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41263B-D34C-4B1F-A29A-6B1C42DE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真实研究状态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CC74C8-4FC4-4557-BFF2-95C38D9B4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工程基线已解决可行任务，RSI 按规则停止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CB5600-B7E2-45F2-9B9C-B53BEC9E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9B8A3B-FD59-4710-A38F-1FB1330E9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952625"/>
            <a:ext cx="10572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625" b="1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开发任务：10 个直接合格；2 个为容量不足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BB1641-FE8B-452A-9EA3-E092C1D3C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809875"/>
            <a:ext cx="10572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100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冻结根版本后揭示 6 个留出任务：5 个合格，1 个资源不足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E26C98-9236-4DDB-A712-D2DB5089C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752850"/>
            <a:ext cx="1066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C68932-F3D0-4BDC-BA7A-7907AB49F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095750"/>
            <a:ext cx="10572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400" b="1">
                <a:solidFill>
                  <a:srgbClr val="E9B675"/>
                </a:solidFill>
                <a:latin typeface="Hiragino Sans GB"/>
                <a:ea typeface="Hiragino Sans GB"/>
                <a:cs typeface="Hiragino Sans GB"/>
              </a:rPr>
              <a:t>0 次新增模型调用 · 0 次程序晋升 · 未形成继承优势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AC1582-57EC-42E9-B8A4-9F49B5C1D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00625"/>
            <a:ext cx="10572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每个 72 小时任务保留 288 次必需 AC 检查。</a:t>
            </a:r>
          </a:p>
          <a:p xmlns:a="http://schemas.openxmlformats.org/drawingml/2006/main">
            <a:pPr algn="l">
              <a:def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2025" b="0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额外搜索开销已为 0，当前任务不能证明 RSI 更高效。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06D6D6-4EE6-4431-AF00-FEC9009EE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AE8DE3-F112-4E6B-872F-B32956C48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4369333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22DDCE-1BC3-42CD-90A6-9448E6EAF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开发段操作筛查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90F36A-4FFB-4D2F-BB27-B9607031E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操作空间有效，但四项改动收益有限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36B10A-3CE9-4E4D-9568-E4AE7CFF4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666750" y="1762125"/>
          <a:ext xmlns:a="http://schemas.openxmlformats.org/drawingml/2006/main" cx="108585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571750"/>
                <a:gridCol w="2190750"/>
                <a:gridCol w="2095500"/>
              </a:tblGrid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配置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配对节省 / 元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比例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MILP 次数</a:t>
                      </a:r>
                    </a:p>
                  </a:txBody>
                  <a:tcPr marL="95250" marR="95250" marT="9525" marB="9525" anchor="ctr">
                    <a:solidFill>
                      <a:srgbClr val="28465F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原工程基线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—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15 分钟重排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33.07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0.0418%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2,880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 小时重排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13.82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0.0175%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360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季节性朴素预测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2.87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0.0036%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92D43"/>
                    </a:solidFill>
                  </a:tcPr>
                </a:tc>
              </a:tr>
              <a:tr h="523875"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25% 库存保护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−391.29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−0.4942%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  <a:tc>
                  <a:txBody>
                    <a:bodyPr wrap="square">
                      <a:normAutofit/>
                    </a:bodyPr>
                    <a:lstStyle/>
                    <a:p>
                      <a:r>
                        <a:rPr sz="1725" b="0">
                          <a:solidFill>
                            <a:srgbClr val="E5EDF7"/>
                          </a:solidFill>
                          <a:latin typeface="Hiragino Sans GB"/>
                          <a:ea typeface="Hiragino Sans GB"/>
                          <a:cs typeface="Hiragino Sans GB"/>
                        </a:rPr>
                        <a:t>720</a:t>
                      </a:r>
                    </a:p>
                  </a:txBody>
                  <a:tcPr marL="95250" marR="95250" marT="9525" marB="9525" anchor="ctr">
                    <a:solidFill>
                      <a:srgbClr val="14273C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E2FA5B-7E64-4F60-9ACE-D9EC0627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19700"/>
            <a:ext cx="10572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7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10 个可行开发任务；均有行为差异、均通过安全与服务检查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68A0B0-0D22-4089-9A11-0157C379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81675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87121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累计研究：16,704 次 AC / 5,976 次 MILP。未达到 1% 成本投入阈值。</a:t>
            </a:r>
          </a:p>
          <a:p xmlns:a="http://schemas.openxmlformats.org/drawingml/2006/main">
            <a:pPr algn="l">
              <a:def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650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重排次数属于常规求解开销；四项筛查不证明所有改动均无效。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DE3EA9-B9AE-4E83-A165-1C71D24F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CD7FED-163E-44B1-ABA2-F61EB092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20437344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D19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0EF750-F9FF-4FE9-B96C-E441BD1D8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295275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交付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302C2-747C-495B-AF47-A95F7985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85800"/>
            <a:ext cx="10906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3150" b="1">
                <a:solidFill>
                  <a:srgbClr val="E5EDF7"/>
                </a:solidFill>
                <a:latin typeface="Hiragino Sans GB"/>
                <a:ea typeface="Hiragino Sans GB"/>
                <a:cs typeface="Hiragino Sans GB"/>
              </a:rPr>
              <a:t>在线回放与本机复算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1F75EF-B1A2-44FC-80B1-C8D664EC9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419225"/>
            <a:ext cx="10906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A526D"/>
          </a:solidFill>
          <a:ln xmlns:a="http://schemas.openxmlformats.org/drawingml/2006/main" w="0">
            <a:noFill/>
          </a:ln>
        </p:spPr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3ed6c20b794ea4"/>
          <a:stretch xmlns:a="http://schemas.openxmlformats.org/drawingml/2006/main"/>
        </p:blipFill>
        <p:spPr>
          <a:xfrm xmlns:a="http://schemas.openxmlformats.org/drawingml/2006/main">
            <a:off x="2497667" y="1647825"/>
            <a:ext cx="7196667" cy="4048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ABCCB9-98AC-470F-9F75-A6D7B3DC4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810250"/>
            <a:ext cx="10572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800" b="0">
                <a:solidFill>
                  <a:srgbClr val="75D5C5"/>
                </a:solidFill>
                <a:latin typeface="Hiragino Sans GB"/>
                <a:ea typeface="Hiragino Sans GB"/>
                <a:cs typeface="Hiragino Sans GB"/>
              </a:rPr>
              <a:t>在线：六月日期、三方案、费用分解与改进记录；本机：完整数据与重算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073B1D-A081-4531-A660-E3407A11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467475"/>
            <a:ext cx="1009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97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2026年6月仿真 · v3.2 · 公开基准验证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7EFAF0-7FAE-49CE-A181-5D1A1245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6429375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defRPr>
            </a:pPr>
            <a:r>
              <a:rPr sz="1125" b="0">
                <a:solidFill>
                  <a:srgbClr val="9BB0C9"/>
                </a:solidFill>
                <a:latin typeface="Hiragino Sans GB"/>
                <a:ea typeface="Hiragino Sans GB"/>
                <a:cs typeface="Hiragino Sans GB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4197873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2026-10-07T08:29:02.5950000Z</dcterms:created>
  <dcterms:modified xsi:type="dcterms:W3CDTF">2026-10-07T08:29:02.5950000Z</dcterms:modified>
</coreProperties>
</file>